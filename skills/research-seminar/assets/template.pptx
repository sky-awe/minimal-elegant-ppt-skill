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b3c423638400e" /><Relationship Type="http://schemas.openxmlformats.org/officeDocument/2006/relationships/extended-properties" Target="/docProps/app.xml" Id="R65fa3b70db8945d8" /><Relationship Type="http://schemas.openxmlformats.org/officeDocument/2006/relationships/officeDocument" Target="/ppt/presentation.xml" Id="Rc6d647f83e9140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fced3009024223"/>
  </p:sldMasterIdLst>
  <p:notesMasterIdLst>
    <p:notesMasterId xmlns:r="http://schemas.openxmlformats.org/officeDocument/2006/relationships" r:id="R6feeae2e4c3a439b"/>
  </p:notesMasterIdLst>
  <p:sldIdLst>
    <p:sldId xmlns:r="http://schemas.openxmlformats.org/officeDocument/2006/relationships" id="256" r:id="Rcb8bb593b0c348e7"/>
    <p:sldId xmlns:r="http://schemas.openxmlformats.org/officeDocument/2006/relationships" id="257" r:id="Rf795e10283cd469a"/>
    <p:sldId xmlns:r="http://schemas.openxmlformats.org/officeDocument/2006/relationships" id="258" r:id="R8088e78d1fee4625"/>
    <p:sldId xmlns:r="http://schemas.openxmlformats.org/officeDocument/2006/relationships" id="259" r:id="Rf0dd7b5873d94f2d"/>
    <p:sldId xmlns:r="http://schemas.openxmlformats.org/officeDocument/2006/relationships" id="260" r:id="Rc839dd7db8844f4a"/>
    <p:sldId xmlns:r="http://schemas.openxmlformats.org/officeDocument/2006/relationships" id="261" r:id="Re20992e04eec4b2e"/>
    <p:sldId xmlns:r="http://schemas.openxmlformats.org/officeDocument/2006/relationships" id="262" r:id="R44b25315c2bb4fe1"/>
    <p:sldId xmlns:r="http://schemas.openxmlformats.org/officeDocument/2006/relationships" id="263" r:id="Rabfeafac941449ac"/>
    <p:sldId xmlns:r="http://schemas.openxmlformats.org/officeDocument/2006/relationships" id="264" r:id="R8a1cded03b2844b2"/>
    <p:sldId xmlns:r="http://schemas.openxmlformats.org/officeDocument/2006/relationships" id="265" r:id="R63a94cba139c4e53"/>
    <p:sldId xmlns:r="http://schemas.openxmlformats.org/officeDocument/2006/relationships" id="266" r:id="Rd1b8472582644668"/>
    <p:sldId xmlns:r="http://schemas.openxmlformats.org/officeDocument/2006/relationships" id="267" r:id="Rb2e9d41d2b7b4981"/>
    <p:sldId xmlns:r="http://schemas.openxmlformats.org/officeDocument/2006/relationships" id="268" r:id="Rf925360993914daf"/>
    <p:sldId xmlns:r="http://schemas.openxmlformats.org/officeDocument/2006/relationships" id="269" r:id="R6222c79386164f42"/>
    <p:sldId xmlns:r="http://schemas.openxmlformats.org/officeDocument/2006/relationships" id="270" r:id="R78c8f241875942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a5da3a5ec94ef7" /><Relationship Type="http://schemas.openxmlformats.org/officeDocument/2006/relationships/slideMaster" Target="/ppt/slideMasters/slideMaster1.xml" Id="R56fced3009024223" /><Relationship Type="http://schemas.openxmlformats.org/officeDocument/2006/relationships/notesMaster" Target="/ppt/notesMasters/notesMaster1.xml" Id="R6feeae2e4c3a439b" /><Relationship Type="http://schemas.openxmlformats.org/officeDocument/2006/relationships/presProps" Target="/ppt/presProps.xml" Id="R355889c17f554f0a" /><Relationship Type="http://schemas.openxmlformats.org/officeDocument/2006/relationships/tableStyles" Target="/ppt/tableStyles.xml" Id="R099555b4d7a1476d" /><Relationship Type="http://schemas.openxmlformats.org/officeDocument/2006/relationships/slide" Target="/ppt/slides/slide1.xml" Id="Rcb8bb593b0c348e7" /><Relationship Type="http://schemas.openxmlformats.org/officeDocument/2006/relationships/slide" Target="/ppt/slides/slide2.xml" Id="Rf795e10283cd469a" /><Relationship Type="http://schemas.openxmlformats.org/officeDocument/2006/relationships/slide" Target="/ppt/slides/slide3.xml" Id="R8088e78d1fee4625" /><Relationship Type="http://schemas.openxmlformats.org/officeDocument/2006/relationships/slide" Target="/ppt/slides/slide4.xml" Id="Rf0dd7b5873d94f2d" /><Relationship Type="http://schemas.openxmlformats.org/officeDocument/2006/relationships/slide" Target="/ppt/slides/slide5.xml" Id="Rc839dd7db8844f4a" /><Relationship Type="http://schemas.openxmlformats.org/officeDocument/2006/relationships/slide" Target="/ppt/slides/slide6.xml" Id="Re20992e04eec4b2e" /><Relationship Type="http://schemas.openxmlformats.org/officeDocument/2006/relationships/slide" Target="/ppt/slides/slide7.xml" Id="R44b25315c2bb4fe1" /><Relationship Type="http://schemas.openxmlformats.org/officeDocument/2006/relationships/slide" Target="/ppt/slides/slide8.xml" Id="Rabfeafac941449ac" /><Relationship Type="http://schemas.openxmlformats.org/officeDocument/2006/relationships/slide" Target="/ppt/slides/slide9.xml" Id="R8a1cded03b2844b2" /><Relationship Type="http://schemas.openxmlformats.org/officeDocument/2006/relationships/slide" Target="/ppt/slides/slide10.xml" Id="R63a94cba139c4e53" /><Relationship Type="http://schemas.openxmlformats.org/officeDocument/2006/relationships/slide" Target="/ppt/slides/slide11.xml" Id="Rd1b8472582644668" /><Relationship Type="http://schemas.openxmlformats.org/officeDocument/2006/relationships/slide" Target="/ppt/slides/slide12.xml" Id="Rb2e9d41d2b7b4981" /><Relationship Type="http://schemas.openxmlformats.org/officeDocument/2006/relationships/slide" Target="/ppt/slides/slide13.xml" Id="Rf925360993914daf" /><Relationship Type="http://schemas.openxmlformats.org/officeDocument/2006/relationships/slide" Target="/ppt/slides/slide14.xml" Id="R6222c79386164f42" /><Relationship Type="http://schemas.openxmlformats.org/officeDocument/2006/relationships/slide" Target="/ppt/slides/slide15.xml" Id="R78c8f241875942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96b4c8743242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ac602233f945b1" /><Relationship Type="http://schemas.openxmlformats.org/officeDocument/2006/relationships/notesMaster" Target="/ppt/notesMasters/notesMaster1.xml" Id="R0b9986ec6ed440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face03e21f84030" /><Relationship Type="http://schemas.openxmlformats.org/officeDocument/2006/relationships/notesMaster" Target="/ppt/notesMasters/notesMaster1.xml" Id="Rb3e32182259141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ffe331d0c24be8" /><Relationship Type="http://schemas.openxmlformats.org/officeDocument/2006/relationships/notesMaster" Target="/ppt/notesMasters/notesMaster1.xml" Id="Rdd7741ad05814a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1d2158b54548c4" /><Relationship Type="http://schemas.openxmlformats.org/officeDocument/2006/relationships/notesMaster" Target="/ppt/notesMasters/notesMaster1.xml" Id="R0dc8e62fc9644e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628c3276c884b97" /><Relationship Type="http://schemas.openxmlformats.org/officeDocument/2006/relationships/notesMaster" Target="/ppt/notesMasters/notesMaster1.xml" Id="Rcc1cebaf87a843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8df9ff885a43f4" /><Relationship Type="http://schemas.openxmlformats.org/officeDocument/2006/relationships/notesMaster" Target="/ppt/notesMasters/notesMaster1.xml" Id="R1ad53bd01f1a40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dfa9471f1c48d9" /><Relationship Type="http://schemas.openxmlformats.org/officeDocument/2006/relationships/notesMaster" Target="/ppt/notesMasters/notesMaster1.xml" Id="R13bc8c8dd4a640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c5a43413244717" /><Relationship Type="http://schemas.openxmlformats.org/officeDocument/2006/relationships/notesMaster" Target="/ppt/notesMasters/notesMaster1.xml" Id="R0a9c07c82f6d47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23dc4f024f4faa" /><Relationship Type="http://schemas.openxmlformats.org/officeDocument/2006/relationships/notesMaster" Target="/ppt/notesMasters/notesMaster1.xml" Id="R6e6d01b9043e4b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1f3300807946ba" /><Relationship Type="http://schemas.openxmlformats.org/officeDocument/2006/relationships/notesMaster" Target="/ppt/notesMasters/notesMaster1.xml" Id="Rb2c4decfad3f44f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875215612242f8" /><Relationship Type="http://schemas.openxmlformats.org/officeDocument/2006/relationships/notesMaster" Target="/ppt/notesMasters/notesMaster1.xml" Id="R89bf945f629645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24762e61f214653" /><Relationship Type="http://schemas.openxmlformats.org/officeDocument/2006/relationships/notesMaster" Target="/ppt/notesMasters/notesMaster1.xml" Id="Rbe79c1dd5f7e4a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e7ec0a9b754311" /><Relationship Type="http://schemas.openxmlformats.org/officeDocument/2006/relationships/notesMaster" Target="/ppt/notesMasters/notesMaster1.xml" Id="R68689c5c33be40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95e026be434cfa" /><Relationship Type="http://schemas.openxmlformats.org/officeDocument/2006/relationships/notesMaster" Target="/ppt/notesMasters/notesMaster1.xml" Id="R16d9bee63e0042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6297c316def47e6" /><Relationship Type="http://schemas.openxmlformats.org/officeDocument/2006/relationships/notesMaster" Target="/ppt/notesMasters/notesMaster1.xml" Id="R9d754b20a64c49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开场先说明今天讨论什么科学问题，以及这篇论文为什么值得介绍。用一句话概括研究对象和证据类型，再告诉听众接下来会先看设计、再读结果、最后讨论启发。把方括号内容全部换成真实材料。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这一页先让大家使用同一套概念。每个概念先用日常语言解释，再说明论文实际测了什么。只保留听懂后面结果所必需的术语，最后把概念重新接回核心问题。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字母与圆点只是一个构造的教学例子，不是实测数据。两组都有三类成员，每类出现两次，但共享的成员只有A。它说明总量相似和成员相似是不同的问题。若新汇报与群落无关，请替换为同样简单、明确标为示意的例子，或删除此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先把研究问题说成一句能被数据回答的话，再说明比较发生在什么条件下。贡献要结合已有研究来讲，避免把常见方法说成首次创新。这里解释作者为什么这样设计研究。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上到下读这张结构图，先说明独立研究单元，再说明单元内如何取样，最后说明哪些样本进入了哪些测定。数量和尺度必须来自原文。子样或技术重复不能直接增加独立样地数量，也不要把不同年龄地点讲成同地连续监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这页按箭头逐步说明数据怎样变成结论。每条路径只讲输入是什么、得到什么指标、回答什么问题。无需逐个念出软件和参数。若两类数据来自不同样本子集，要在这里说明可比范围。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听众看横轴、纵轴和分组，再指出本页最值得看的比较。讲清变化方向和量级，也说明离散程度与证据范围。没有显著差异只说明本次分析未检出相应证据，不能自动解释为完全没有变化。占位区域应换成有来源的真实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先解释左图怎样表达样本之间的关系，再读右图的趋势和分散程度。用图轴上的单位讲实际变化，不只念显著性。若从图中估读数值，应明确是近似读图，不把模型拟合线当作每组的原始均值。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沿用上一页的看图顺序，让大家容易比较另一个对象。先说明这里改变的是哪一组对象或指标，再讲趋势、实际量级和样本差异。不同尺度或起点的曲线不能仅凭斜率直接判断谁变化更快。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这页说明新数据在前面结果之外增加了什么信息。先交代测量对象和样本范围，再读图中的方向与量级，最后连接核心问题。基因潜力、预测、表达和实测过程属于不同证据层次，按论文实际测量来表述。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按A、B、C三个面板依次读图。先确认类别和纵轴的定义，再分别说趋势。量程不同的面板优先比较各自方向，避免直接拿视觉高度比较大小。类别注释若只是推断，需要与直接实测的功能区分。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这页把三个层次分开。左列是作者真正报告的结果，中列是作者据此提出的解释，右列才是汇报者的评价。挑出最影响结论的限制集中讲，不必每页重复。没有查到的证据应称未核实，不能直接称没有做。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以把上半部分理解为跟着同一个研究单元观察，下半部分是同一天观察不同阶段的多个单元。两者回答时间变化问题的依据不同。用新论文的真实设计替换标签，不默认某一种设计普遍可靠或普遍不可靠。右侧可放与对照直接相关的原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先说明自己实际拥有哪些资料，再谈这篇文献能启发什么问题。时间轴要照真实采样记录修改，缺测要清楚标明，样本身份未知就保留未知。右下的研究设想属于汇报者提出，不能说成论文已经证明。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自己的话串起三条核心认识，每条都对应前面真正展示过的证据。最后提出两个具体、可讨论的问题，例如现有证据能支持到哪一步，以及下一步优先补什么测量或记录。不要在总结页新增尚未展示的数据或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来源记录：[作者，年份，题目，DOI或稳定链接，页码/图号]。这是模板讲稿提示，正式汇报前应改成与实际材料对应的讲述。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2dd5c8c153459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5620767ec4c4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1eac48d1044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60839a0e5043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9281011ff46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91e408ecc44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EDEE9C-EB1C-4436-BD1B-9821BA055B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760BE0D-B5E2-4646-A78A-29F858E910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E95B574-5F79-4E96-9762-CD6B5C05B5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2AD66D-63A4-43E8-9155-D9E7723E4A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4F114E2-82CD-4057-A86B-7DC617CBBB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B5A60B9-0844-4A0B-A6CA-C2A90E8F9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E5C623-8D5C-40D8-ADA0-801CD306D4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52D9CD-5F11-4BDD-A625-E1FE94369C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62503B-201E-4409-AD0A-DF0FE26C43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CE4F78-6BA2-43B3-894A-CE5A9E6FC1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5a37bc6f724105" /><Relationship Type="http://schemas.openxmlformats.org/officeDocument/2006/relationships/slideLayout" Target="/ppt/slideLayouts/slideLayout1.xml" Id="R994ab6cbc3f5473a" /><Relationship Type="http://schemas.openxmlformats.org/officeDocument/2006/relationships/slideLayout" Target="/ppt/slideLayouts/slideLayout2.xml" Id="R31faa661da474b40" /><Relationship Type="http://schemas.openxmlformats.org/officeDocument/2006/relationships/slideLayout" Target="/ppt/slideLayouts/slideLayout3.xml" Id="R78787f03208b463b" /><Relationship Type="http://schemas.openxmlformats.org/officeDocument/2006/relationships/slideLayout" Target="/ppt/slideLayouts/slideLayout4.xml" Id="R51e24eb00f0d4bf3" /><Relationship Type="http://schemas.openxmlformats.org/officeDocument/2006/relationships/slideLayout" Target="/ppt/slideLayouts/slideLayout5.xml" Id="R15cb3cfe0ebf4e59" /><Relationship Type="http://schemas.openxmlformats.org/officeDocument/2006/relationships/slideLayout" Target="/ppt/slideLayouts/slideLayout6.xml" Id="R66920f1820914a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4ab6cbc3f5473a"/>
    <p:sldLayoutId xmlns:r="http://schemas.openxmlformats.org/officeDocument/2006/relationships" id="2147483650" r:id="R31faa661da474b40"/>
    <p:sldLayoutId xmlns:r="http://schemas.openxmlformats.org/officeDocument/2006/relationships" id="2147483651" r:id="R78787f03208b463b"/>
    <p:sldLayoutId xmlns:r="http://schemas.openxmlformats.org/officeDocument/2006/relationships" id="2147483652" r:id="R51e24eb00f0d4bf3"/>
    <p:sldLayoutId xmlns:r="http://schemas.openxmlformats.org/officeDocument/2006/relationships" id="2147483653" r:id="R15cb3cfe0ebf4e59"/>
    <p:sldLayoutId xmlns:r="http://schemas.openxmlformats.org/officeDocument/2006/relationships" id="2147483654" r:id="R66920f1820914a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39fc968b5448d8" /><Relationship Type="http://schemas.openxmlformats.org/officeDocument/2006/relationships/notesSlide" Target="/ppt/notesSlides/notesSlide1.xml" Id="Ra8b8507e5f9f4a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b4e9346794f99" /><Relationship Type="http://schemas.openxmlformats.org/officeDocument/2006/relationships/notesSlide" Target="/ppt/notesSlides/notesSlide2.xml" Id="R2cf1ebc566964c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42e7591874038" /><Relationship Type="http://schemas.openxmlformats.org/officeDocument/2006/relationships/notesSlide" Target="/ppt/notesSlides/notesSlide3.xml" Id="R07d96bc8f64845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cd39fa06c146a5" /><Relationship Type="http://schemas.openxmlformats.org/officeDocument/2006/relationships/notesSlide" Target="/ppt/notesSlides/notesSlide4.xml" Id="R8c674023ff184a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68b77204f4a6a" /><Relationship Type="http://schemas.openxmlformats.org/officeDocument/2006/relationships/notesSlide" Target="/ppt/notesSlides/notesSlide5.xml" Id="R1b6bee760bca4e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21c753d9f941de" /><Relationship Type="http://schemas.openxmlformats.org/officeDocument/2006/relationships/notesSlide" Target="/ppt/notesSlides/notesSlide6.xml" Id="Ra3abc979525146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1ec9d28ad4fb6" /><Relationship Type="http://schemas.openxmlformats.org/officeDocument/2006/relationships/notesSlide" Target="/ppt/notesSlides/notesSlide7.xml" Id="Re9fc4b01f1804e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2a65e9ac484854" /><Relationship Type="http://schemas.openxmlformats.org/officeDocument/2006/relationships/notesSlide" Target="/ppt/notesSlides/notesSlide8.xml" Id="R9d4c8607420f4d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bee5d972f4a9f" /><Relationship Type="http://schemas.openxmlformats.org/officeDocument/2006/relationships/notesSlide" Target="/ppt/notesSlides/notesSlide9.xml" Id="Rbaeeff546e134f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1eda9f7ae7435d" /><Relationship Type="http://schemas.openxmlformats.org/officeDocument/2006/relationships/notesSlide" Target="/ppt/notesSlides/notesSlide10.xml" Id="R851eed43e6d04a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c2fd9380bc4539" /><Relationship Type="http://schemas.openxmlformats.org/officeDocument/2006/relationships/notesSlide" Target="/ppt/notesSlides/notesSlide11.xml" Id="R857f2371bc254b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473c541134f52" /><Relationship Type="http://schemas.openxmlformats.org/officeDocument/2006/relationships/notesSlide" Target="/ppt/notesSlides/notesSlide12.xml" Id="R48291b9ea56a4f0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a803a5e0a4c4f" /><Relationship Type="http://schemas.openxmlformats.org/officeDocument/2006/relationships/notesSlide" Target="/ppt/notesSlides/notesSlide13.xml" Id="R75ddcfcbb03749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386279035a49e8" /><Relationship Type="http://schemas.openxmlformats.org/officeDocument/2006/relationships/notesSlide" Target="/ppt/notesSlides/notesSlide14.xml" Id="R6c43e39fabf741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00b41fd0dd4912" /><Relationship Type="http://schemas.openxmlformats.org/officeDocument/2006/relationships/notesSlide" Target="/ppt/notesSlides/notesSlide15.xml" Id="Ra60810b1357c47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371AE0-750F-48B0-B487-82B229DB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研究生组会汇报模板</a:t>
            </a:r>
          </a:p>
        </p:txBody>
      </p:sp>
      <p:sp>
        <p:nvSpPr>
          <p:cNvPr id="2" name="source">
            <a:extLst xmlns:a="http://schemas.openxmlformats.org/drawingml/2006/main">
              <a:ext uri="{FF2B5EF4-FFF2-40B4-BE49-F238E27FC236}">
                <a16:creationId xmlns:a16="http://schemas.microsoft.com/office/drawing/2014/main" id="{4CFA805B-D7AD-487B-969B-164B2758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作者（年份），期刊，图号或章节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2137B9-B53A-4BC6-ABC2-55E1F434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FA050A0-8349-450F-8DA7-317008A3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[汇报题目或核心科学问题]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C789388-0D9A-431D-8003-0702B819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241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[一句话说明本次汇报的切入点]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D1EC4D0-2B6D-4D1A-9F64-0F4DE559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243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核心论文：[作者，年份]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254AB1D-BC5D-4EDD-99B1-8FB4AF8E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[论文作者与发表年份]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E08C5D4-2C5D-4CCC-B678-7F43A79B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[论文题目，可用一至两行]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6FA37EEF-2E8C-470D-96E1-5A4FA610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汇报人：[姓名]    日期：[日期]    时长：15—20分钟</a:t>
            </a:r>
          </a:p>
        </p:txBody>
      </p:sp>
    </p:spTree>
    <p:extLst>
      <p:ext uri="{BB962C8B-B14F-4D97-AF65-F5344CB8AC3E}">
        <p14:creationId xmlns:p14="http://schemas.microsoft.com/office/powerpoint/2010/main" val="3400752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3415A7-33FD-4B46-8734-D2635DA4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背景与关键概念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E0613871-0F44-4851-9CEC-40608019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作者（年份），引言或方法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5FC521-238A-4B82-826E-8B639B48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v2-text-1">
            <a:extLst xmlns:a="http://schemas.openxmlformats.org/drawingml/2006/main">
              <a:ext uri="{FF2B5EF4-FFF2-40B4-BE49-F238E27FC236}">
                <a16:creationId xmlns:a16="http://schemas.microsoft.com/office/drawing/2014/main" id="{D3FFED3D-0D2A-44EF-A324-99E307C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47775"/>
            <a:ext cx="1090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[现象为何重要，已有指标还不能解释什么]</a:t>
            </a:r>
          </a:p>
        </p:txBody>
      </p:sp>
      <p:sp>
        <p:nvSpPr>
          <p:cNvPr id="10" name="v2-text-2">
            <a:extLst xmlns:a="http://schemas.openxmlformats.org/drawingml/2006/main">
              <a:ext uri="{FF2B5EF4-FFF2-40B4-BE49-F238E27FC236}">
                <a16:creationId xmlns:a16="http://schemas.microsoft.com/office/drawing/2014/main" id="{0C645554-64AB-4A24-8206-90C4EC12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概念一</a:t>
            </a:r>
          </a:p>
        </p:txBody>
      </p:sp>
      <p:sp>
        <p:nvSpPr>
          <p:cNvPr id="11" name="v2-text-3">
            <a:extLst xmlns:a="http://schemas.openxmlformats.org/drawingml/2006/main">
              <a:ext uri="{FF2B5EF4-FFF2-40B4-BE49-F238E27FC236}">
                <a16:creationId xmlns:a16="http://schemas.microsoft.com/office/drawing/2014/main" id="{AC8DA0FD-3D96-4406-8657-549D25B9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33600"/>
            <a:ext cx="8172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[用一句通俗的话说明它测量什么]</a:t>
            </a:r>
          </a:p>
        </p:txBody>
      </p:sp>
      <p:sp>
        <p:nvSpPr>
          <p:cNvPr id="12" name="v2-text-4">
            <a:extLst xmlns:a="http://schemas.openxmlformats.org/drawingml/2006/main">
              <a:ext uri="{FF2B5EF4-FFF2-40B4-BE49-F238E27FC236}">
                <a16:creationId xmlns:a16="http://schemas.microsoft.com/office/drawing/2014/main" id="{2995785D-B15B-47E2-93EC-1D55FAAE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61937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[对应指标或测量方法]</a:t>
            </a:r>
          </a:p>
        </p:txBody>
      </p:sp>
      <p:sp>
        <p:nvSpPr>
          <p:cNvPr id="13" name="v2-text-5">
            <a:extLst xmlns:a="http://schemas.openxmlformats.org/drawingml/2006/main">
              <a:ext uri="{FF2B5EF4-FFF2-40B4-BE49-F238E27FC236}">
                <a16:creationId xmlns:a16="http://schemas.microsoft.com/office/drawing/2014/main" id="{0C881750-A8D2-42DE-AF22-E1684C276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概念二</a:t>
            </a:r>
          </a:p>
        </p:txBody>
      </p:sp>
      <p:sp>
        <p:nvSpPr>
          <p:cNvPr id="14" name="v2-text-6">
            <a:extLst xmlns:a="http://schemas.openxmlformats.org/drawingml/2006/main">
              <a:ext uri="{FF2B5EF4-FFF2-40B4-BE49-F238E27FC236}">
                <a16:creationId xmlns:a16="http://schemas.microsoft.com/office/drawing/2014/main" id="{936D65A9-635B-4A85-8962-29780133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314700"/>
            <a:ext cx="8172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[说明与概念一的区别]</a:t>
            </a:r>
          </a:p>
        </p:txBody>
      </p:sp>
      <p:sp>
        <p:nvSpPr>
          <p:cNvPr id="15" name="v2-text-7">
            <a:extLst xmlns:a="http://schemas.openxmlformats.org/drawingml/2006/main">
              <a:ext uri="{FF2B5EF4-FFF2-40B4-BE49-F238E27FC236}">
                <a16:creationId xmlns:a16="http://schemas.microsoft.com/office/drawing/2014/main" id="{BB681F03-4F03-43CA-80F5-A2BB7DF4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80047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[对应指标或测量方法]</a:t>
            </a:r>
          </a:p>
        </p:txBody>
      </p:sp>
      <p:sp>
        <p:nvSpPr>
          <p:cNvPr id="16" name="v2-text-8">
            <a:extLst xmlns:a="http://schemas.openxmlformats.org/drawingml/2006/main">
              <a:ext uri="{FF2B5EF4-FFF2-40B4-BE49-F238E27FC236}">
                <a16:creationId xmlns:a16="http://schemas.microsoft.com/office/drawing/2014/main" id="{3D2391DE-BBFB-475B-B8C3-E1389C17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概念三</a:t>
            </a:r>
          </a:p>
        </p:txBody>
      </p:sp>
      <p:sp>
        <p:nvSpPr>
          <p:cNvPr id="17" name="v2-text-9">
            <a:extLst xmlns:a="http://schemas.openxmlformats.org/drawingml/2006/main">
              <a:ext uri="{FF2B5EF4-FFF2-40B4-BE49-F238E27FC236}">
                <a16:creationId xmlns:a16="http://schemas.microsoft.com/office/drawing/2014/main" id="{ED37EE9F-8C9E-4801-A1F2-CA7BEF71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495800"/>
            <a:ext cx="8172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[说明第三个证据层次]</a:t>
            </a:r>
          </a:p>
        </p:txBody>
      </p:sp>
      <p:sp>
        <p:nvSpPr>
          <p:cNvPr id="18" name="v2-text-10">
            <a:extLst xmlns:a="http://schemas.openxmlformats.org/drawingml/2006/main">
              <a:ext uri="{FF2B5EF4-FFF2-40B4-BE49-F238E27FC236}">
                <a16:creationId xmlns:a16="http://schemas.microsoft.com/office/drawing/2014/main" id="{F9D2194B-465F-41E9-8F8D-9D81D21F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81575"/>
            <a:ext cx="817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[对应指标或测量方法]</a:t>
            </a:r>
          </a:p>
        </p:txBody>
      </p:sp>
      <p:sp>
        <p:nvSpPr>
          <p:cNvPr id="19" name="v2-text-11">
            <a:extLst xmlns:a="http://schemas.openxmlformats.org/drawingml/2006/main">
              <a:ext uri="{FF2B5EF4-FFF2-40B4-BE49-F238E27FC236}">
                <a16:creationId xmlns:a16="http://schemas.microsoft.com/office/drawing/2014/main" id="{FE35E95D-0C1D-4CBF-812E-BE9E0BFC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0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本次追问：[这些概念如何连接到科学问题？]</a:t>
            </a:r>
          </a:p>
        </p:txBody>
      </p:sp>
    </p:spTree>
    <p:extLst>
      <p:ext uri="{BB962C8B-B14F-4D97-AF65-F5344CB8AC3E}">
        <p14:creationId xmlns:p14="http://schemas.microsoft.com/office/powerpoint/2010/main" val="15280686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CBBE3C-1FED-4DCE-9105-BAE6D925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概念示例：数量相同，成员可以不同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5B89A8AB-B304-432C-837C-7B6CFE9A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概念教学示例，不代表论文或课题数据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BC7AD42-A177-4CEF-BF20-5B35EB51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v2-text-12">
            <a:extLst xmlns:a="http://schemas.openxmlformats.org/drawingml/2006/main">
              <a:ext uri="{FF2B5EF4-FFF2-40B4-BE49-F238E27FC236}">
                <a16:creationId xmlns:a16="http://schemas.microsoft.com/office/drawing/2014/main" id="{BB96C2CE-9D78-4786-8827-854A4B29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477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概念教学示例，非实测数据</a:t>
            </a:r>
          </a:p>
        </p:txBody>
      </p:sp>
      <p:sp>
        <p:nvSpPr>
          <p:cNvPr id="10" name="v2-text-13">
            <a:extLst xmlns:a="http://schemas.openxmlformats.org/drawingml/2006/main">
              <a:ext uri="{FF2B5EF4-FFF2-40B4-BE49-F238E27FC236}">
                <a16:creationId xmlns:a16="http://schemas.microsoft.com/office/drawing/2014/main" id="{5430E980-257F-4856-8B89-C31A21C8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示例甲</a:t>
            </a:r>
          </a:p>
        </p:txBody>
      </p:sp>
      <p:sp>
        <p:nvSpPr>
          <p:cNvPr id="11" name="v2-text-14">
            <a:extLst xmlns:a="http://schemas.openxmlformats.org/drawingml/2006/main">
              <a:ext uri="{FF2B5EF4-FFF2-40B4-BE49-F238E27FC236}">
                <a16:creationId xmlns:a16="http://schemas.microsoft.com/office/drawing/2014/main" id="{51500D03-077C-4D05-83F6-61BA3D9B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762125"/>
            <a:ext cx="4286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示例乙</a:t>
            </a:r>
          </a:p>
        </p:txBody>
      </p:sp>
      <p:sp>
        <p:nvSpPr>
          <p:cNvPr id="12" name="v2-diagram-15">
            <a:extLst xmlns:a="http://schemas.openxmlformats.org/drawingml/2006/main">
              <a:ext uri="{FF2B5EF4-FFF2-40B4-BE49-F238E27FC236}">
                <a16:creationId xmlns:a16="http://schemas.microsoft.com/office/drawing/2014/main" id="{27DF1C70-F75C-4E56-8240-1A839257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12383">
            <a:solidFill>
              <a:srgbClr val="315F4D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3" name="v2-diagram-16">
            <a:extLst xmlns:a="http://schemas.openxmlformats.org/drawingml/2006/main">
              <a:ext uri="{FF2B5EF4-FFF2-40B4-BE49-F238E27FC236}">
                <a16:creationId xmlns:a16="http://schemas.microsoft.com/office/drawing/2014/main" id="{F253B942-4102-45A4-901F-E1902556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288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763B"/>
          </a:solidFill>
          <a:ln xmlns:a="http://schemas.openxmlformats.org/drawingml/2006/main" w="12383">
            <a:solidFill>
              <a:srgbClr val="94763B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4" name="v2-diagram-17">
            <a:extLst xmlns:a="http://schemas.openxmlformats.org/drawingml/2006/main">
              <a:ext uri="{FF2B5EF4-FFF2-40B4-BE49-F238E27FC236}">
                <a16:creationId xmlns:a16="http://schemas.microsoft.com/office/drawing/2014/main" id="{71251B82-A1EF-4175-A326-3C1B1FFE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E86"/>
          </a:solidFill>
          <a:ln xmlns:a="http://schemas.openxmlformats.org/drawingml/2006/main" w="12383">
            <a:solidFill>
              <a:srgbClr val="4C6E86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5" name="v2-diagram-18">
            <a:extLst xmlns:a="http://schemas.openxmlformats.org/drawingml/2006/main">
              <a:ext uri="{FF2B5EF4-FFF2-40B4-BE49-F238E27FC236}">
                <a16:creationId xmlns:a16="http://schemas.microsoft.com/office/drawing/2014/main" id="{816D4042-BCED-4067-8082-CBAFAF2B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12383">
            <a:solidFill>
              <a:srgbClr val="315F4D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6" name="v2-diagram-19">
            <a:extLst xmlns:a="http://schemas.openxmlformats.org/drawingml/2006/main">
              <a:ext uri="{FF2B5EF4-FFF2-40B4-BE49-F238E27FC236}">
                <a16:creationId xmlns:a16="http://schemas.microsoft.com/office/drawing/2014/main" id="{3F39EDBC-E605-4165-9093-76A398D3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29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4763B"/>
          </a:solidFill>
          <a:ln xmlns:a="http://schemas.openxmlformats.org/drawingml/2006/main" w="12383">
            <a:solidFill>
              <a:srgbClr val="94763B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v2-diagram-20">
            <a:extLst xmlns:a="http://schemas.openxmlformats.org/drawingml/2006/main">
              <a:ext uri="{FF2B5EF4-FFF2-40B4-BE49-F238E27FC236}">
                <a16:creationId xmlns:a16="http://schemas.microsoft.com/office/drawing/2014/main" id="{CBCF0CC8-68B7-4D6E-8463-8238DA78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29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6E86"/>
          </a:solidFill>
          <a:ln xmlns:a="http://schemas.openxmlformats.org/drawingml/2006/main" w="12383">
            <a:solidFill>
              <a:srgbClr val="4C6E86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8" name="v2-text-21">
            <a:extLst xmlns:a="http://schemas.openxmlformats.org/drawingml/2006/main">
              <a:ext uri="{FF2B5EF4-FFF2-40B4-BE49-F238E27FC236}">
                <a16:creationId xmlns:a16="http://schemas.microsoft.com/office/drawing/2014/main" id="{D53CF6A8-21F9-4032-B0BF-66B9C395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3类成员，每类2个</a:t>
            </a:r>
          </a:p>
        </p:txBody>
      </p:sp>
      <p:sp>
        <p:nvSpPr>
          <p:cNvPr id="19" name="v2-diagram-22">
            <a:extLst xmlns:a="http://schemas.openxmlformats.org/drawingml/2006/main">
              <a:ext uri="{FF2B5EF4-FFF2-40B4-BE49-F238E27FC236}">
                <a16:creationId xmlns:a16="http://schemas.microsoft.com/office/drawing/2014/main" id="{93FD28B8-4A5A-442E-9DF8-E06416FDB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288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12383">
            <a:solidFill>
              <a:srgbClr val="315F4D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0" name="v2-diagram-23">
            <a:extLst xmlns:a="http://schemas.openxmlformats.org/drawingml/2006/main">
              <a:ext uri="{FF2B5EF4-FFF2-40B4-BE49-F238E27FC236}">
                <a16:creationId xmlns:a16="http://schemas.microsoft.com/office/drawing/2014/main" id="{EE766ABE-7701-45CC-918E-8EC80573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288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5981"/>
          </a:solidFill>
          <a:ln xmlns:a="http://schemas.openxmlformats.org/drawingml/2006/main" w="12383">
            <a:solidFill>
              <a:srgbClr val="8D5981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1" name="v2-diagram-24">
            <a:extLst xmlns:a="http://schemas.openxmlformats.org/drawingml/2006/main">
              <a:ext uri="{FF2B5EF4-FFF2-40B4-BE49-F238E27FC236}">
                <a16:creationId xmlns:a16="http://schemas.microsoft.com/office/drawing/2014/main" id="{4D651527-5C4E-4C2A-B3BE-F626CE40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288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5945"/>
          </a:solidFill>
          <a:ln xmlns:a="http://schemas.openxmlformats.org/drawingml/2006/main" w="12383">
            <a:solidFill>
              <a:srgbClr val="9D59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2" name="v2-diagram-25">
            <a:extLst xmlns:a="http://schemas.openxmlformats.org/drawingml/2006/main">
              <a:ext uri="{FF2B5EF4-FFF2-40B4-BE49-F238E27FC236}">
                <a16:creationId xmlns:a16="http://schemas.microsoft.com/office/drawing/2014/main" id="{E236B444-CE44-42A8-AED6-B2E55DED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4D"/>
          </a:solidFill>
          <a:ln xmlns:a="http://schemas.openxmlformats.org/drawingml/2006/main" w="12383">
            <a:solidFill>
              <a:srgbClr val="315F4D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23" name="v2-diagram-26">
            <a:extLst xmlns:a="http://schemas.openxmlformats.org/drawingml/2006/main">
              <a:ext uri="{FF2B5EF4-FFF2-40B4-BE49-F238E27FC236}">
                <a16:creationId xmlns:a16="http://schemas.microsoft.com/office/drawing/2014/main" id="{6E26AFBC-6D74-45D4-B55A-BDA6A9B8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29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5981"/>
          </a:solidFill>
          <a:ln xmlns:a="http://schemas.openxmlformats.org/drawingml/2006/main" w="12383">
            <a:solidFill>
              <a:srgbClr val="8D5981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4" name="v2-diagram-27">
            <a:extLst xmlns:a="http://schemas.openxmlformats.org/drawingml/2006/main">
              <a:ext uri="{FF2B5EF4-FFF2-40B4-BE49-F238E27FC236}">
                <a16:creationId xmlns:a16="http://schemas.microsoft.com/office/drawing/2014/main" id="{CDAFAFB9-7150-460F-86D2-37BFE9E3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5945"/>
          </a:solidFill>
          <a:ln xmlns:a="http://schemas.openxmlformats.org/drawingml/2006/main" w="12383">
            <a:solidFill>
              <a:srgbClr val="9D5945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</a:t>
            </a:r>
          </a:p>
        </p:txBody>
      </p:sp>
      <p:sp>
        <p:nvSpPr>
          <p:cNvPr id="25" name="v2-text-28">
            <a:extLst xmlns:a="http://schemas.openxmlformats.org/drawingml/2006/main">
              <a:ext uri="{FF2B5EF4-FFF2-40B4-BE49-F238E27FC236}">
                <a16:creationId xmlns:a16="http://schemas.microsoft.com/office/drawing/2014/main" id="{71DE9EF3-9537-4FEA-9806-E85550C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3类成员，每类2个</a:t>
            </a:r>
          </a:p>
        </p:txBody>
      </p:sp>
      <p:sp>
        <p:nvSpPr>
          <p:cNvPr id="26" name="v2-text-29">
            <a:extLst xmlns:a="http://schemas.openxmlformats.org/drawingml/2006/main">
              <a:ext uri="{FF2B5EF4-FFF2-40B4-BE49-F238E27FC236}">
                <a16:creationId xmlns:a16="http://schemas.microsoft.com/office/drawing/2014/main" id="{CEF36CF5-280F-416A-829B-A5C51A40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数量与均匀程度相同，成员只有A重合</a:t>
            </a:r>
          </a:p>
        </p:txBody>
      </p:sp>
      <p:sp>
        <p:nvSpPr>
          <p:cNvPr id="27" name="v2-text-30">
            <a:extLst xmlns:a="http://schemas.openxmlformats.org/drawingml/2006/main">
              <a:ext uri="{FF2B5EF4-FFF2-40B4-BE49-F238E27FC236}">
                <a16:creationId xmlns:a16="http://schemas.microsoft.com/office/drawing/2014/main" id="{EAA7881A-C44D-41F9-AAE1-511EA5757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可按汇报主题替换此示例，并清楚标明它是教学示意</a:t>
            </a:r>
          </a:p>
        </p:txBody>
      </p:sp>
    </p:spTree>
    <p:extLst>
      <p:ext uri="{BB962C8B-B14F-4D97-AF65-F5344CB8AC3E}">
        <p14:creationId xmlns:p14="http://schemas.microsoft.com/office/powerpoint/2010/main" val="4869897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CF5262-E681-4A19-8049-D7FC974B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科学问题与研究贡献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1F02722-870C-4BF9-AE23-7D0CC62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CE148C08-E7B4-4AF0-8ECF-30CAE8C8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作者（年份），引言研究目标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EB41CD8-960B-4D00-8944-A97C5D6B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7E3BAEB-ABFA-4472-8BCA-792B4E68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核心问题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873F755-5444-4426-8526-BCEF7D34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64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[作者要回答的具体问题，明确对象与比较关系]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2C0A4CE-1618-4ABC-AD97-C878A0FA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992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比较条件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26FB58B-305A-42A8-AD79-7A8FABDC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48075"/>
            <a:ext cx="1064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[研究情境、处理或对照，按原文填写]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1EE6F4A8-79E4-475C-A3E0-29EB6183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05350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本文的贡献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42958E5-BA95-4672-9C1B-F6E7E3C7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0648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[相对已有研究增加了什么证据或解释]</a:t>
            </a:r>
          </a:p>
        </p:txBody>
      </p:sp>
    </p:spTree>
    <p:extLst>
      <p:ext uri="{BB962C8B-B14F-4D97-AF65-F5344CB8AC3E}">
        <p14:creationId xmlns:p14="http://schemas.microsoft.com/office/powerpoint/2010/main" val="2143793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64857-891D-48F5-874C-FA1C595C92D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67625" y="33623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4D"/>
            </a:solidFill>
            <a:headEnd type="none" w="med" len="me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46F56A-13C0-451D-9FB9-9FF53D5A26A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733800" y="336232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4D"/>
            </a:solidFill>
            <a:headEnd type="none" w="med" len="med"/>
            <a:tailEnd type="triangle" w="med" len="med"/>
          </a:ln>
        </p:spPr>
      </p:cxn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1208FE3-7F3C-498D-B9D3-938809D9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采样设计与样本层级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5B641C8F-71AF-40C6-B2D3-EE8EE4B8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作者（年份），方法章节；结构示意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A9A7C5-B37B-4F1D-BAE9-7C7B393C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v2-text-31">
            <a:extLst xmlns:a="http://schemas.openxmlformats.org/drawingml/2006/main">
              <a:ext uri="{FF2B5EF4-FFF2-40B4-BE49-F238E27FC236}">
                <a16:creationId xmlns:a16="http://schemas.microsoft.com/office/drawing/2014/main" id="{7D2DFFEC-424B-4EA9-BF24-711614EE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38225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[研究对象、地点与处理背景，按原文填写]</a:t>
            </a:r>
          </a:p>
        </p:txBody>
      </p:sp>
      <p:sp>
        <p:nvSpPr>
          <p:cNvPr id="9" name="v2-diagram-32">
            <a:extLst xmlns:a="http://schemas.openxmlformats.org/drawingml/2006/main">
              <a:ext uri="{FF2B5EF4-FFF2-40B4-BE49-F238E27FC236}">
                <a16:creationId xmlns:a16="http://schemas.microsoft.com/office/drawing/2014/main" id="{EB009BA0-8FC5-4BE5-BAC3-5191B80F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6762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独立研究单元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[组别与数量]</a:t>
            </a:r>
          </a:p>
        </p:txBody>
      </p:sp>
      <p:sp>
        <p:nvSpPr>
          <p:cNvPr id="10" name="v2-diagram-33">
            <a:extLst xmlns:a="http://schemas.openxmlformats.org/drawingml/2006/main">
              <a:ext uri="{FF2B5EF4-FFF2-40B4-BE49-F238E27FC236}">
                <a16:creationId xmlns:a16="http://schemas.microsoft.com/office/drawing/2014/main" id="{449F803F-E695-4B00-861C-FE739407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00200"/>
            <a:ext cx="30003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参照或对照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[组别与数量]</a:t>
            </a:r>
          </a:p>
        </p:txBody>
      </p:sp>
      <p:sp>
        <p:nvSpPr>
          <p:cNvPr id="11" name="v2-diagram-34">
            <a:extLst xmlns:a="http://schemas.openxmlformats.org/drawingml/2006/main">
              <a:ext uri="{FF2B5EF4-FFF2-40B4-BE49-F238E27FC236}">
                <a16:creationId xmlns:a16="http://schemas.microsoft.com/office/drawing/2014/main" id="{A6D2000F-4932-411C-B50A-22C226FE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研究单元内调查</a:t>
            </a:r>
          </a:p>
        </p:txBody>
      </p:sp>
      <p:sp>
        <p:nvSpPr>
          <p:cNvPr id="12" name="v2-diagram-35">
            <a:extLst xmlns:a="http://schemas.openxmlformats.org/drawingml/2006/main">
              <a:ext uri="{FF2B5EF4-FFF2-40B4-BE49-F238E27FC236}">
                <a16:creationId xmlns:a16="http://schemas.microsoft.com/office/drawing/2014/main" id="{7DAE1DAB-BAF3-4BDF-B65E-9B272874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1465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子样或样方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[数量与尺度]</a:t>
            </a:r>
          </a:p>
        </p:txBody>
      </p:sp>
      <p:sp>
        <p:nvSpPr>
          <p:cNvPr id="13" name="v2-diagram-36">
            <a:extLst xmlns:a="http://schemas.openxmlformats.org/drawingml/2006/main">
              <a:ext uri="{FF2B5EF4-FFF2-40B4-BE49-F238E27FC236}">
                <a16:creationId xmlns:a16="http://schemas.microsoft.com/office/drawing/2014/main" id="{393EEB7C-0F58-4F3E-ADD1-5371191E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14650"/>
            <a:ext cx="3143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样品采集</a:t>
            </a:r>
          </a:p>
          <a:p xmlns:a="http://schemas.openxmlformats.org/drawingml/2006/main">
            <a:pPr algn="ctr">
              <a:buNone/>
              <a:def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[时间、范围、深度]</a:t>
            </a:r>
          </a:p>
        </p:txBody>
      </p:sp>
      <p:sp>
        <p:nvSpPr>
          <p:cNvPr id="16" name="v2-text-37">
            <a:extLst xmlns:a="http://schemas.openxmlformats.org/drawingml/2006/main">
              <a:ext uri="{FF2B5EF4-FFF2-40B4-BE49-F238E27FC236}">
                <a16:creationId xmlns:a16="http://schemas.microsoft.com/office/drawing/2014/main" id="{56C947C4-BF58-4036-B97E-1316EED7F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单元内层级</a:t>
            </a:r>
          </a:p>
        </p:txBody>
      </p:sp>
      <p:sp>
        <p:nvSpPr>
          <p:cNvPr id="17" name="v2-diagram-38">
            <a:extLst xmlns:a="http://schemas.openxmlformats.org/drawingml/2006/main">
              <a:ext uri="{FF2B5EF4-FFF2-40B4-BE49-F238E27FC236}">
                <a16:creationId xmlns:a16="http://schemas.microsoft.com/office/drawing/2014/main" id="{4CFDC6E2-497E-4DFA-917F-FE90808E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57700"/>
            <a:ext cx="50387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数据路径一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[实测指标与样本范围]</a:t>
            </a:r>
          </a:p>
        </p:txBody>
      </p:sp>
      <p:sp>
        <p:nvSpPr>
          <p:cNvPr id="18" name="v2-diagram-39">
            <a:extLst xmlns:a="http://schemas.openxmlformats.org/drawingml/2006/main">
              <a:ext uri="{FF2B5EF4-FFF2-40B4-BE49-F238E27FC236}">
                <a16:creationId xmlns:a16="http://schemas.microsoft.com/office/drawing/2014/main" id="{8B944137-2A07-41EE-BBC9-38E6713A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503872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数据路径二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[实测指标与样本范围]</a:t>
            </a:r>
          </a:p>
        </p:txBody>
      </p:sp>
      <p:sp>
        <p:nvSpPr>
          <p:cNvPr id="19" name="v2-text-40">
            <a:extLst xmlns:a="http://schemas.openxmlformats.org/drawingml/2006/main">
              <a:ext uri="{FF2B5EF4-FFF2-40B4-BE49-F238E27FC236}">
                <a16:creationId xmlns:a16="http://schemas.microsoft.com/office/drawing/2014/main" id="{E1360C54-1D35-43F7-86ED-003AA0D3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7670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测定数据</a:t>
            </a:r>
          </a:p>
        </p:txBody>
      </p:sp>
      <p:sp>
        <p:nvSpPr>
          <p:cNvPr id="20" name="v2-text-41">
            <a:extLst xmlns:a="http://schemas.openxmlformats.org/drawingml/2006/main">
              <a:ext uri="{FF2B5EF4-FFF2-40B4-BE49-F238E27FC236}">
                <a16:creationId xmlns:a16="http://schemas.microsoft.com/office/drawing/2014/main" id="{EEF2DDFD-AD3D-4964-8008-BD47E37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53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设计解释：[独立重复、子样与选样范围有什么区别？]</a:t>
            </a:r>
          </a:p>
        </p:txBody>
      </p:sp>
    </p:spTree>
    <p:extLst>
      <p:ext uri="{BB962C8B-B14F-4D97-AF65-F5344CB8AC3E}">
        <p14:creationId xmlns:p14="http://schemas.microsoft.com/office/powerpoint/2010/main" val="619066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FEFDD3-3F30-47CE-BE75-85EA825587B6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7429500" y="4500563"/>
            <a:ext cx="1038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4D"/>
            </a:solidFill>
            <a:headEnd type="none" w="med" len="me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29584-9A48-49E7-861B-B9329576B5C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495675" y="4500563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4D"/>
            </a:solidFill>
            <a:headEnd type="none" w="med" len="me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41FD4F-633C-4367-BA0C-E8A2D36CF0A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429500" y="2605088"/>
            <a:ext cx="103822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4D"/>
            </a:solidFill>
            <a:headEnd type="none" w="med" len="me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EF53E6-8861-40D7-9E17-DA73E7D4D6A0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495675" y="2605088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4D"/>
            </a:solidFill>
            <a:headEnd type="none" w="med" len="med"/>
            <a:tailEnd type="triangle" w="med" len="med"/>
          </a:ln>
        </p:spPr>
      </p:cxnSp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2CE9AC-18ED-4F7E-A8E2-D32AB842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数据与分析流程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2BE62129-40F6-4F75-AF49-6FCC6941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作者（年份），方法章节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C9269D-13B1-4872-BE5A-6060BB65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9" name="v2-text-42">
            <a:extLst xmlns:a="http://schemas.openxmlformats.org/drawingml/2006/main">
              <a:ext uri="{FF2B5EF4-FFF2-40B4-BE49-F238E27FC236}">
                <a16:creationId xmlns:a16="http://schemas.microsoft.com/office/drawing/2014/main" id="{611E9A87-B0C2-4331-AB87-295B52EF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57275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[两条证据路径各自回答什么问题]</a:t>
            </a:r>
          </a:p>
        </p:txBody>
      </p:sp>
      <p:sp>
        <p:nvSpPr>
          <p:cNvPr id="10" name="v2-text-43">
            <a:extLst xmlns:a="http://schemas.openxmlformats.org/drawingml/2006/main">
              <a:ext uri="{FF2B5EF4-FFF2-40B4-BE49-F238E27FC236}">
                <a16:creationId xmlns:a16="http://schemas.microsoft.com/office/drawing/2014/main" id="{6380CA0E-DD3D-4C99-AD70-CD94F2101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数据路径一</a:t>
            </a:r>
          </a:p>
        </p:txBody>
      </p:sp>
      <p:sp>
        <p:nvSpPr>
          <p:cNvPr id="11" name="v2-diagram-44">
            <a:extLst xmlns:a="http://schemas.openxmlformats.org/drawingml/2006/main">
              <a:ext uri="{FF2B5EF4-FFF2-40B4-BE49-F238E27FC236}">
                <a16:creationId xmlns:a16="http://schemas.microsoft.com/office/drawing/2014/main" id="{19F46797-62E2-4A81-A97A-087F96BD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905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[原始测量]</a:t>
            </a:r>
          </a:p>
        </p:txBody>
      </p:sp>
      <p:sp>
        <p:nvSpPr>
          <p:cNvPr id="12" name="v2-diagram-45">
            <a:extLst xmlns:a="http://schemas.openxmlformats.org/drawingml/2006/main">
              <a:ext uri="{FF2B5EF4-FFF2-40B4-BE49-F238E27FC236}">
                <a16:creationId xmlns:a16="http://schemas.microsoft.com/office/drawing/2014/main" id="{191E5B3E-166A-4019-BB11-26A76276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2905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[整理后数据]</a:t>
            </a:r>
          </a:p>
        </p:txBody>
      </p:sp>
      <p:sp>
        <p:nvSpPr>
          <p:cNvPr id="13" name="v2-diagram-46">
            <a:extLst xmlns:a="http://schemas.openxmlformats.org/drawingml/2006/main">
              <a:ext uri="{FF2B5EF4-FFF2-40B4-BE49-F238E27FC236}">
                <a16:creationId xmlns:a16="http://schemas.microsoft.com/office/drawing/2014/main" id="{75C365DC-D1FF-4A9A-8687-C3A9FF76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057400"/>
            <a:ext cx="31337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[指标或分析]</a:t>
            </a:r>
          </a:p>
          <a:p xmlns:a="http://schemas.openxmlformats.org/drawingml/2006/main">
            <a:pPr algn="ctr">
              <a:buNone/>
              <a:def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[对应问题]</a:t>
            </a:r>
          </a:p>
        </p:txBody>
      </p:sp>
      <p:sp>
        <p:nvSpPr>
          <p:cNvPr id="16" name="v2-text-47">
            <a:extLst xmlns:a="http://schemas.openxmlformats.org/drawingml/2006/main">
              <a:ext uri="{FF2B5EF4-FFF2-40B4-BE49-F238E27FC236}">
                <a16:creationId xmlns:a16="http://schemas.microsoft.com/office/drawing/2014/main" id="{354BD302-6C51-45D5-ABD2-4874E43C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数据路径二</a:t>
            </a:r>
          </a:p>
        </p:txBody>
      </p:sp>
      <p:sp>
        <p:nvSpPr>
          <p:cNvPr id="17" name="v2-diagram-48">
            <a:extLst xmlns:a="http://schemas.openxmlformats.org/drawingml/2006/main">
              <a:ext uri="{FF2B5EF4-FFF2-40B4-BE49-F238E27FC236}">
                <a16:creationId xmlns:a16="http://schemas.microsoft.com/office/drawing/2014/main" id="{8A32C74D-DD67-4744-A22D-5DFF49A4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2905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[原始测量]</a:t>
            </a:r>
          </a:p>
        </p:txBody>
      </p:sp>
      <p:sp>
        <p:nvSpPr>
          <p:cNvPr id="18" name="v2-diagram-49">
            <a:extLst xmlns:a="http://schemas.openxmlformats.org/drawingml/2006/main">
              <a:ext uri="{FF2B5EF4-FFF2-40B4-BE49-F238E27FC236}">
                <a16:creationId xmlns:a16="http://schemas.microsoft.com/office/drawing/2014/main" id="{7AC1005D-C25F-4D1D-9F6C-828BF4C8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05275"/>
            <a:ext cx="29051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[整理后数据]</a:t>
            </a:r>
          </a:p>
        </p:txBody>
      </p:sp>
      <p:sp>
        <p:nvSpPr>
          <p:cNvPr id="19" name="v2-diagram-50">
            <a:extLst xmlns:a="http://schemas.openxmlformats.org/drawingml/2006/main">
              <a:ext uri="{FF2B5EF4-FFF2-40B4-BE49-F238E27FC236}">
                <a16:creationId xmlns:a16="http://schemas.microsoft.com/office/drawing/2014/main" id="{3DC18B7E-20B1-4089-9CD5-05D7CB2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105275"/>
            <a:ext cx="313372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[对应问题]</a:t>
            </a:r>
          </a:p>
        </p:txBody>
      </p:sp>
      <p:sp>
        <p:nvSpPr>
          <p:cNvPr id="22" name="v2-text-51">
            <a:extLst xmlns:a="http://schemas.openxmlformats.org/drawingml/2006/main">
              <a:ext uri="{FF2B5EF4-FFF2-40B4-BE49-F238E27FC236}">
                <a16:creationId xmlns:a16="http://schemas.microsoft.com/office/drawing/2014/main" id="{99C0776B-FC65-43FD-AC4D-AE6BA695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06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关键指标：[名称、定义与单位，按原文填写]</a:t>
            </a:r>
          </a:p>
        </p:txBody>
      </p:sp>
      <p:sp>
        <p:nvSpPr>
          <p:cNvPr id="23" name="v2-text-52">
            <a:extLst xmlns:a="http://schemas.openxmlformats.org/drawingml/2006/main">
              <a:ext uri="{FF2B5EF4-FFF2-40B4-BE49-F238E27FC236}">
                <a16:creationId xmlns:a16="http://schemas.microsoft.com/office/drawing/2014/main" id="{BAA30FD0-8060-4699-901C-F4B016CA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10906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解释依据：[与主问题直接相关的补充证据]</a:t>
            </a:r>
          </a:p>
        </p:txBody>
      </p:sp>
    </p:spTree>
    <p:extLst>
      <p:ext uri="{BB962C8B-B14F-4D97-AF65-F5344CB8AC3E}">
        <p14:creationId xmlns:p14="http://schemas.microsoft.com/office/powerpoint/2010/main" val="9332599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E7779D-DC00-4746-A6B6-03AD8EA9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结果一：[填写这页支持的主要判断]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0B52C21-3E8E-4C0D-A9F9-2F6C727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作者报告的结果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842E64EF-8723-476D-8A8E-10CD6A24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作者（年份），Fig.[图号]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256E975-3303-47C6-BFBD-6D375DA0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39A5CFAE-C331-4353-A0D2-E2CEDBC2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38325"/>
            <a:ext cx="3429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指标或对象一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577F3126-7DE0-40D2-9C16-07F41E9C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90775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[主要趋势与实际幅度]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[与哪个组比较]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E3C3838-BFC4-412F-BDC5-608D4916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指标或对象二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9BA95FE-3C51-43E7-93DE-7E63F8904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48150"/>
            <a:ext cx="3429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[主要趋势与不确定性]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[与哪个组比较]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3C8A0B2-3511-4553-911F-026BAD87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rPr>
              <a:t>科学含义：[这张图对核心问题提供了什么证据？]</a:t>
            </a:r>
          </a:p>
        </p:txBody>
      </p:sp>
      <p:sp>
        <p:nvSpPr>
          <p:cNvPr id="12" name="figure-placeholder-7-1">
            <a:extLst xmlns:a="http://schemas.openxmlformats.org/drawingml/2006/main">
              <a:ext uri="{FF2B5EF4-FFF2-40B4-BE49-F238E27FC236}">
                <a16:creationId xmlns:a16="http://schemas.microsoft.com/office/drawing/2014/main" id="{15E603DB-42F3-4875-B49B-8A11B872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45128"/>
            <a:ext cx="6981825" cy="40440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</p:spTree>
    <p:extLst>
      <p:ext uri="{BB962C8B-B14F-4D97-AF65-F5344CB8AC3E}">
        <p14:creationId xmlns:p14="http://schemas.microsoft.com/office/powerpoint/2010/main" val="2135428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1B1872-239E-4713-9397-D11EF77B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结果二：[填写组成或关系的主要发现]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03BED0DF-F567-4D34-802F-661B7FF2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作者（年份），Fig.[图号与面板]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230D30-434B-4B6A-9028-903C599D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12" name="v2-text-53">
            <a:extLst xmlns:a="http://schemas.openxmlformats.org/drawingml/2006/main">
              <a:ext uri="{FF2B5EF4-FFF2-40B4-BE49-F238E27FC236}">
                <a16:creationId xmlns:a16="http://schemas.microsoft.com/office/drawing/2014/main" id="{B30DE2EA-A42D-4738-B08D-8DB2D9AA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A 整体关系或组成</a:t>
            </a:r>
          </a:p>
        </p:txBody>
      </p:sp>
      <p:sp>
        <p:nvSpPr>
          <p:cNvPr id="13" name="v2-text-54">
            <a:extLst xmlns:a="http://schemas.openxmlformats.org/drawingml/2006/main">
              <a:ext uri="{FF2B5EF4-FFF2-40B4-BE49-F238E27FC236}">
                <a16:creationId xmlns:a16="http://schemas.microsoft.com/office/drawing/2014/main" id="{36FD0238-40FA-4743-8BF5-FCD321FA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1239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B 趋势与实际幅度</a:t>
            </a:r>
          </a:p>
        </p:txBody>
      </p:sp>
      <p:sp>
        <p:nvSpPr>
          <p:cNvPr id="14" name="v2-text-55">
            <a:extLst xmlns:a="http://schemas.openxmlformats.org/drawingml/2006/main">
              <a:ext uri="{FF2B5EF4-FFF2-40B4-BE49-F238E27FC236}">
                <a16:creationId xmlns:a16="http://schemas.microsoft.com/office/drawing/2014/main" id="{0BC432CB-6AF9-467C-BD4B-52111EE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292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[变化方向与量级]</a:t>
            </a:r>
          </a:p>
        </p:txBody>
      </p:sp>
      <p:sp>
        <p:nvSpPr>
          <p:cNvPr id="15" name="v2-text-56">
            <a:extLst xmlns:a="http://schemas.openxmlformats.org/drawingml/2006/main">
              <a:ext uri="{FF2B5EF4-FFF2-40B4-BE49-F238E27FC236}">
                <a16:creationId xmlns:a16="http://schemas.microsoft.com/office/drawing/2014/main" id="{CFE1D6CC-7B94-41C1-8B6B-F1192DD0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43575"/>
            <a:ext cx="4114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[图中可见的差异]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[它的科学含义]</a:t>
            </a:r>
          </a:p>
        </p:txBody>
      </p:sp>
      <p:sp>
        <p:nvSpPr>
          <p:cNvPr id="16" name="figure-placeholder-8-1">
            <a:extLst xmlns:a="http://schemas.openxmlformats.org/drawingml/2006/main">
              <a:ext uri="{FF2B5EF4-FFF2-40B4-BE49-F238E27FC236}">
                <a16:creationId xmlns:a16="http://schemas.microsoft.com/office/drawing/2014/main" id="{F3913A4E-5D5E-43A7-BABD-C2B93363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378" y="1581150"/>
            <a:ext cx="3660469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 A]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  <p:sp>
        <p:nvSpPr>
          <p:cNvPr id="17" name="figure-placeholder-8-2">
            <a:extLst xmlns:a="http://schemas.openxmlformats.org/drawingml/2006/main">
              <a:ext uri="{FF2B5EF4-FFF2-40B4-BE49-F238E27FC236}">
                <a16:creationId xmlns:a16="http://schemas.microsoft.com/office/drawing/2014/main" id="{07AE3380-025C-4939-9311-FF662FA8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9916" y="1438275"/>
            <a:ext cx="5198419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 B]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  <p:sp>
        <p:nvSpPr>
          <p:cNvPr id="18" name="figure-placeholder-8-3">
            <a:extLst xmlns:a="http://schemas.openxmlformats.org/drawingml/2006/main">
              <a:ext uri="{FF2B5EF4-FFF2-40B4-BE49-F238E27FC236}">
                <a16:creationId xmlns:a16="http://schemas.microsoft.com/office/drawing/2014/main" id="{E40A727E-6A40-41B8-91C9-A57FD0D3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986" y="6000750"/>
            <a:ext cx="5110529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[图例或色标]</a:t>
            </a:r>
          </a:p>
        </p:txBody>
      </p:sp>
    </p:spTree>
    <p:extLst>
      <p:ext uri="{BB962C8B-B14F-4D97-AF65-F5344CB8AC3E}">
        <p14:creationId xmlns:p14="http://schemas.microsoft.com/office/powerpoint/2010/main" val="8684426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868929-C48C-4090-B10C-007C61AC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结果三：[填写另一对象的主要发现]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41AE65A9-25BE-4256-A1F3-26BA49A3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作者（年份），Fig.[图号与面板]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753DD7-8E25-45F0-8BC2-8356A4CD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12" name="v2-text-57">
            <a:extLst xmlns:a="http://schemas.openxmlformats.org/drawingml/2006/main">
              <a:ext uri="{FF2B5EF4-FFF2-40B4-BE49-F238E27FC236}">
                <a16:creationId xmlns:a16="http://schemas.microsoft.com/office/drawing/2014/main" id="{E4FEFEFD-E18F-4E34-80A4-3D705A6F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A 整体关系或组成</a:t>
            </a:r>
          </a:p>
        </p:txBody>
      </p:sp>
      <p:sp>
        <p:nvSpPr>
          <p:cNvPr id="13" name="v2-text-58">
            <a:extLst xmlns:a="http://schemas.openxmlformats.org/drawingml/2006/main">
              <a:ext uri="{FF2B5EF4-FFF2-40B4-BE49-F238E27FC236}">
                <a16:creationId xmlns:a16="http://schemas.microsoft.com/office/drawing/2014/main" id="{23A9C6A5-573A-4030-B997-C036450A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1239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B 趋势与实际幅度</a:t>
            </a:r>
          </a:p>
        </p:txBody>
      </p:sp>
      <p:sp>
        <p:nvSpPr>
          <p:cNvPr id="14" name="v2-text-59">
            <a:extLst xmlns:a="http://schemas.openxmlformats.org/drawingml/2006/main">
              <a:ext uri="{FF2B5EF4-FFF2-40B4-BE49-F238E27FC236}">
                <a16:creationId xmlns:a16="http://schemas.microsoft.com/office/drawing/2014/main" id="{CD893CC8-5D0C-457D-8EDB-F9480A85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292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[变化方向与量级]</a:t>
            </a:r>
          </a:p>
        </p:txBody>
      </p:sp>
      <p:sp>
        <p:nvSpPr>
          <p:cNvPr id="15" name="v2-text-60">
            <a:extLst xmlns:a="http://schemas.openxmlformats.org/drawingml/2006/main">
              <a:ext uri="{FF2B5EF4-FFF2-40B4-BE49-F238E27FC236}">
                <a16:creationId xmlns:a16="http://schemas.microsoft.com/office/drawing/2014/main" id="{FC7751AD-A81F-437D-902D-AAF12ED9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43575"/>
            <a:ext cx="4114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[与前一结果的联系]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[可支持的解释范围]</a:t>
            </a:r>
          </a:p>
        </p:txBody>
      </p:sp>
      <p:sp>
        <p:nvSpPr>
          <p:cNvPr id="16" name="figure-placeholder-9-1">
            <a:extLst xmlns:a="http://schemas.openxmlformats.org/drawingml/2006/main">
              <a:ext uri="{FF2B5EF4-FFF2-40B4-BE49-F238E27FC236}">
                <a16:creationId xmlns:a16="http://schemas.microsoft.com/office/drawing/2014/main" id="{671AB182-8FA7-435A-A15A-3A35DDB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252" y="1581150"/>
            <a:ext cx="388472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 A]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  <p:sp>
        <p:nvSpPr>
          <p:cNvPr id="17" name="figure-placeholder-9-2">
            <a:extLst xmlns:a="http://schemas.openxmlformats.org/drawingml/2006/main">
              <a:ext uri="{FF2B5EF4-FFF2-40B4-BE49-F238E27FC236}">
                <a16:creationId xmlns:a16="http://schemas.microsoft.com/office/drawing/2014/main" id="{1369CC88-64FB-454A-8BA9-9401C6DF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323" y="1438275"/>
            <a:ext cx="5409605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 B]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  <p:sp>
        <p:nvSpPr>
          <p:cNvPr id="18" name="figure-placeholder-9-3">
            <a:extLst xmlns:a="http://schemas.openxmlformats.org/drawingml/2006/main">
              <a:ext uri="{FF2B5EF4-FFF2-40B4-BE49-F238E27FC236}">
                <a16:creationId xmlns:a16="http://schemas.microsoft.com/office/drawing/2014/main" id="{47FF7B7B-E6E2-4860-837E-6E0FB14E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31" y="6000750"/>
            <a:ext cx="582323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[图例或色标]</a:t>
            </a:r>
          </a:p>
        </p:txBody>
      </p:sp>
    </p:spTree>
    <p:extLst>
      <p:ext uri="{BB962C8B-B14F-4D97-AF65-F5344CB8AC3E}">
        <p14:creationId xmlns:p14="http://schemas.microsoft.com/office/powerpoint/2010/main" val="15449802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BDB391-4780-4F23-B300-BF332E78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结果四：[填写新增证据的主要发现]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078F3D6B-4FF9-47E6-8D6E-E2AF7622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作者（年份），Fig.[图号与面板]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6D2FA1-265E-49F5-8355-41834558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12" name="v2-text-61">
            <a:extLst xmlns:a="http://schemas.openxmlformats.org/drawingml/2006/main">
              <a:ext uri="{FF2B5EF4-FFF2-40B4-BE49-F238E27FC236}">
                <a16:creationId xmlns:a16="http://schemas.microsoft.com/office/drawing/2014/main" id="{C7E4ED7D-67E6-442E-9D54-B73E46D8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2395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A 新证据的整体关系</a:t>
            </a:r>
          </a:p>
        </p:txBody>
      </p:sp>
      <p:sp>
        <p:nvSpPr>
          <p:cNvPr id="13" name="v2-text-62">
            <a:extLst xmlns:a="http://schemas.openxmlformats.org/drawingml/2006/main">
              <a:ext uri="{FF2B5EF4-FFF2-40B4-BE49-F238E27FC236}">
                <a16:creationId xmlns:a16="http://schemas.microsoft.com/office/drawing/2014/main" id="{9716831C-D7B1-4652-9680-E1607C98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123950"/>
            <a:ext cx="647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B 趋势与实际幅度</a:t>
            </a:r>
          </a:p>
        </p:txBody>
      </p:sp>
      <p:sp>
        <p:nvSpPr>
          <p:cNvPr id="14" name="v2-text-63">
            <a:extLst xmlns:a="http://schemas.openxmlformats.org/drawingml/2006/main">
              <a:ext uri="{FF2B5EF4-FFF2-40B4-BE49-F238E27FC236}">
                <a16:creationId xmlns:a16="http://schemas.microsoft.com/office/drawing/2014/main" id="{6109F354-0C93-4FC0-A0B2-5060C0AA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2292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[变化方向与量级]</a:t>
            </a:r>
          </a:p>
        </p:txBody>
      </p:sp>
      <p:sp>
        <p:nvSpPr>
          <p:cNvPr id="15" name="v2-text-64">
            <a:extLst xmlns:a="http://schemas.openxmlformats.org/drawingml/2006/main">
              <a:ext uri="{FF2B5EF4-FFF2-40B4-BE49-F238E27FC236}">
                <a16:creationId xmlns:a16="http://schemas.microsoft.com/office/drawing/2014/main" id="{5890511E-8E01-4C8A-9040-278C733D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43575"/>
            <a:ext cx="4114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[新增证据的价值]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[样本范围与测量层次]</a:t>
            </a:r>
          </a:p>
        </p:txBody>
      </p:sp>
      <p:sp>
        <p:nvSpPr>
          <p:cNvPr id="16" name="figure-placeholder-10-1">
            <a:extLst xmlns:a="http://schemas.openxmlformats.org/drawingml/2006/main">
              <a:ext uri="{FF2B5EF4-FFF2-40B4-BE49-F238E27FC236}">
                <a16:creationId xmlns:a16="http://schemas.microsoft.com/office/drawing/2014/main" id="{3BE7EE8B-1B0B-497D-AFA6-CE317588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048" y="1581150"/>
            <a:ext cx="384913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 A]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  <p:sp>
        <p:nvSpPr>
          <p:cNvPr id="17" name="figure-placeholder-10-2">
            <a:extLst xmlns:a="http://schemas.openxmlformats.org/drawingml/2006/main">
              <a:ext uri="{FF2B5EF4-FFF2-40B4-BE49-F238E27FC236}">
                <a16:creationId xmlns:a16="http://schemas.microsoft.com/office/drawing/2014/main" id="{774446E7-3F93-42D9-BC77-6C008024F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449" y="1438275"/>
            <a:ext cx="5451352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 B]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  <p:sp>
        <p:nvSpPr>
          <p:cNvPr id="18" name="figure-placeholder-10-3">
            <a:extLst xmlns:a="http://schemas.openxmlformats.org/drawingml/2006/main">
              <a:ext uri="{FF2B5EF4-FFF2-40B4-BE49-F238E27FC236}">
                <a16:creationId xmlns:a16="http://schemas.microsoft.com/office/drawing/2014/main" id="{63068F3D-F721-4758-9CAF-0B92363F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8718" y="6000750"/>
            <a:ext cx="6215063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[图例或色标]</a:t>
            </a:r>
          </a:p>
        </p:txBody>
      </p:sp>
    </p:spTree>
    <p:extLst>
      <p:ext uri="{BB962C8B-B14F-4D97-AF65-F5344CB8AC3E}">
        <p14:creationId xmlns:p14="http://schemas.microsoft.com/office/powerpoint/2010/main" val="9031036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0004BED-3FCD-4F5C-9561-C62D9C2F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结果五：[填写不同类别的响应差异]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AFBBB4A-9A1A-4D2B-99CE-4D0F6911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作者报告：[类别定义与测量指标]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C0EEB03C-50CF-485D-A915-5943098A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作者（年份），Fig.[图号与面板]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E0366C-8AD3-4904-974E-E2188022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E4732F-FE57-45DA-8FFA-16F41652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A [类别一及其趋势]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37C676F-2395-4A75-9A44-7E9FC0CD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81125"/>
            <a:ext cx="3476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B [类别二及其趋势]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DECB79-32F1-4AE4-B0AF-A50FB743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81125"/>
            <a:ext cx="35147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C [类别三及其趋势]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EF5D7F7-FE89-4254-85D2-BC105FFC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62675"/>
            <a:ext cx="11020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rPr>
              <a:t>科学含义：[不同类别的分化说明了什么？]</a:t>
            </a:r>
          </a:p>
        </p:txBody>
      </p:sp>
      <p:sp>
        <p:nvSpPr>
          <p:cNvPr id="11" name="figure-placeholder-11-1">
            <a:extLst xmlns:a="http://schemas.openxmlformats.org/drawingml/2006/main">
              <a:ext uri="{FF2B5EF4-FFF2-40B4-BE49-F238E27FC236}">
                <a16:creationId xmlns:a16="http://schemas.microsoft.com/office/drawing/2014/main" id="{FA836ED8-1AA8-4613-B2C3-AECF0FC4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85" y="1809750"/>
            <a:ext cx="10039580" cy="418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</p:spTree>
    <p:extLst>
      <p:ext uri="{BB962C8B-B14F-4D97-AF65-F5344CB8AC3E}">
        <p14:creationId xmlns:p14="http://schemas.microsoft.com/office/powerpoint/2010/main" val="1418328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1C7980-9335-47DA-BEC5-3CFF45E6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结果、解释与证据边界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FAF2C90-5B68-4A62-87B1-73B67A10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作者结果、作者解释与汇报者评价分层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FBF23B26-7435-4D21-824B-8E89A08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作者（年份），结果与讨论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A72B00-01AB-4402-8B22-34E452E0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6BA05-E8EB-4105-93F8-F226E7B9057D}"/>
              </a:ext>
            </a:extLst>
          </p:cNvPr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11010900" cy="3390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33800"/>
                <a:gridCol w="3076575"/>
                <a:gridCol w="4200525"/>
              </a:tblGrid>
              <a:tr h="8477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作者报告的结果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T w="6668">
                      <a:solidFill>
                        <a:srgbClr val="D6DFD9"/>
                      </a:solidFill>
                      <a:prstDash val="solid"/>
                    </a:lnT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作者提出的解释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T w="6668">
                      <a:solidFill>
                        <a:srgbClr val="D6DFD9"/>
                      </a:solidFill>
                      <a:prstDash val="solid"/>
                    </a:lnT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汇报者评价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T w="6668">
                      <a:solidFill>
                        <a:srgbClr val="D6DFD9"/>
                      </a:solidFill>
                      <a:prstDash val="solid"/>
                    </a:lnT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</a:tr>
              <a:tr h="8477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[直接观测或分析结果一]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[原文提出的解释一]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[证据支持到哪一步]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[直接观测或分析结果二]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[原文提出的解释二]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[尚缺的直接证据]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7725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[直接观测或分析结果三]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[原文提出的解释三]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[样本或方法的适用范围]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8B1F9730-BC2A-49CE-AF01-7D35694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85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关键限制：[仅保留会改变结论或外推范围的限制]</a:t>
            </a:r>
          </a:p>
        </p:txBody>
      </p:sp>
    </p:spTree>
    <p:extLst>
      <p:ext uri="{BB962C8B-B14F-4D97-AF65-F5344CB8AC3E}">
        <p14:creationId xmlns:p14="http://schemas.microsoft.com/office/powerpoint/2010/main" val="7531122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392EC58-8CE3-495C-A37C-BF76CC04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研究设计对照：两种时间观察方式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56877EB9-CFC8-46F8-9196-D6C07B79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作者（年份），图表或方法章节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4FE8B4-D94C-45FF-A56D-01940473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14" name="v2-text-65">
            <a:extLst xmlns:a="http://schemas.openxmlformats.org/drawingml/2006/main">
              <a:ext uri="{FF2B5EF4-FFF2-40B4-BE49-F238E27FC236}">
                <a16:creationId xmlns:a16="http://schemas.microsoft.com/office/drawing/2014/main" id="{96E04F4C-E370-4072-9005-7A43C75D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38275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同地重复调查：跟着同一研究单元看变化</a:t>
            </a:r>
          </a:p>
        </p:txBody>
      </p:sp>
      <p:sp>
        <p:nvSpPr>
          <p:cNvPr id="15" name="v2-diagram-66">
            <a:extLst xmlns:a="http://schemas.openxmlformats.org/drawingml/2006/main">
              <a:ext uri="{FF2B5EF4-FFF2-40B4-BE49-F238E27FC236}">
                <a16:creationId xmlns:a16="http://schemas.microsoft.com/office/drawing/2014/main" id="{C17F5850-257B-450C-BB5D-B2EF69CA3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60293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同一研究单元A</a:t>
            </a:r>
          </a:p>
        </p:txBody>
      </p:sp>
      <p:sp>
        <p:nvSpPr>
          <p:cNvPr id="16" name="v2-text-67">
            <a:extLst xmlns:a="http://schemas.openxmlformats.org/drawingml/2006/main">
              <a:ext uri="{FF2B5EF4-FFF2-40B4-BE49-F238E27FC236}">
                <a16:creationId xmlns:a16="http://schemas.microsoft.com/office/drawing/2014/main" id="{4B6B6CC0-114B-4CA3-B2E7-07933D0D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717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7" name="v2-text-68">
            <a:extLst xmlns:a="http://schemas.openxmlformats.org/drawingml/2006/main">
              <a:ext uri="{FF2B5EF4-FFF2-40B4-BE49-F238E27FC236}">
                <a16:creationId xmlns:a16="http://schemas.microsoft.com/office/drawing/2014/main" id="{5BBD2262-756B-4420-829C-1B2D6459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t1</a:t>
            </a:r>
          </a:p>
        </p:txBody>
      </p:sp>
      <p:sp>
        <p:nvSpPr>
          <p:cNvPr id="18" name="v2-text-69">
            <a:extLst xmlns:a="http://schemas.openxmlformats.org/drawingml/2006/main">
              <a:ext uri="{FF2B5EF4-FFF2-40B4-BE49-F238E27FC236}">
                <a16:creationId xmlns:a16="http://schemas.microsoft.com/office/drawing/2014/main" id="{6252BC8D-CFF2-4EF6-9B9C-45D5991B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717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9" name="v2-text-70">
            <a:extLst xmlns:a="http://schemas.openxmlformats.org/drawingml/2006/main">
              <a:ext uri="{FF2B5EF4-FFF2-40B4-BE49-F238E27FC236}">
                <a16:creationId xmlns:a16="http://schemas.microsoft.com/office/drawing/2014/main" id="{80ABEA9B-B37E-4574-8B10-70E35C26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90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t2</a:t>
            </a:r>
          </a:p>
        </p:txBody>
      </p:sp>
      <p:sp>
        <p:nvSpPr>
          <p:cNvPr id="20" name="v2-text-71">
            <a:extLst xmlns:a="http://schemas.openxmlformats.org/drawingml/2006/main">
              <a:ext uri="{FF2B5EF4-FFF2-40B4-BE49-F238E27FC236}">
                <a16:creationId xmlns:a16="http://schemas.microsoft.com/office/drawing/2014/main" id="{F7787F75-7231-44D6-8391-88615803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717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时点3</a:t>
            </a:r>
          </a:p>
        </p:txBody>
      </p:sp>
      <p:sp>
        <p:nvSpPr>
          <p:cNvPr id="21" name="v2-text-72">
            <a:extLst xmlns:a="http://schemas.openxmlformats.org/drawingml/2006/main">
              <a:ext uri="{FF2B5EF4-FFF2-40B4-BE49-F238E27FC236}">
                <a16:creationId xmlns:a16="http://schemas.microsoft.com/office/drawing/2014/main" id="{BA58B178-C964-489A-97D6-FFD5E1E0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90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t3</a:t>
            </a:r>
          </a:p>
        </p:txBody>
      </p:sp>
      <p:sp>
        <p:nvSpPr>
          <p:cNvPr id="22" name="v2-text-73">
            <a:extLst xmlns:a="http://schemas.openxmlformats.org/drawingml/2006/main">
              <a:ext uri="{FF2B5EF4-FFF2-40B4-BE49-F238E27FC236}">
                <a16:creationId xmlns:a16="http://schemas.microsoft.com/office/drawing/2014/main" id="{4BBAC9B2-74C1-4813-8CB2-EBDBFF3F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717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时点4</a:t>
            </a:r>
          </a:p>
        </p:txBody>
      </p:sp>
      <p:sp>
        <p:nvSpPr>
          <p:cNvPr id="23" name="v2-text-74">
            <a:extLst xmlns:a="http://schemas.openxmlformats.org/drawingml/2006/main">
              <a:ext uri="{FF2B5EF4-FFF2-40B4-BE49-F238E27FC236}">
                <a16:creationId xmlns:a16="http://schemas.microsoft.com/office/drawing/2014/main" id="{48EB1825-4BDC-4CA2-9330-05AA8B9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9087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t4</a:t>
            </a:r>
          </a:p>
        </p:txBody>
      </p:sp>
      <p:sp>
        <p:nvSpPr>
          <p:cNvPr id="24" name="v2-text-75">
            <a:extLst xmlns:a="http://schemas.openxmlformats.org/drawingml/2006/main">
              <a:ext uri="{FF2B5EF4-FFF2-40B4-BE49-F238E27FC236}">
                <a16:creationId xmlns:a16="http://schemas.microsoft.com/office/drawing/2014/main" id="{F3C4ED11-C39B-491E-B397-AA699BEC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602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[同地重复调查的实际频次]</a:t>
            </a:r>
          </a:p>
        </p:txBody>
      </p:sp>
      <p:sp>
        <p:nvSpPr>
          <p:cNvPr id="25" name="v2-text-76">
            <a:extLst xmlns:a="http://schemas.openxmlformats.org/drawingml/2006/main">
              <a:ext uri="{FF2B5EF4-FFF2-40B4-BE49-F238E27FC236}">
                <a16:creationId xmlns:a16="http://schemas.microsoft.com/office/drawing/2014/main" id="{AE89199F-C85F-4597-BD72-A05C15C0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6362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空间代时间：同一次调查比较不同阶段单元</a:t>
            </a:r>
          </a:p>
        </p:txBody>
      </p:sp>
      <p:sp>
        <p:nvSpPr>
          <p:cNvPr id="26" name="v2-diagram-77">
            <a:extLst xmlns:a="http://schemas.openxmlformats.org/drawingml/2006/main">
              <a:ext uri="{FF2B5EF4-FFF2-40B4-BE49-F238E27FC236}">
                <a16:creationId xmlns:a16="http://schemas.microsoft.com/office/drawing/2014/main" id="{C28AB30F-7473-4C4C-B3FD-EB54D03B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阶段1</a:t>
            </a:r>
          </a:p>
        </p:txBody>
      </p:sp>
      <p:sp>
        <p:nvSpPr>
          <p:cNvPr id="27" name="v2-diagram-78">
            <a:extLst xmlns:a="http://schemas.openxmlformats.org/drawingml/2006/main">
              <a:ext uri="{FF2B5EF4-FFF2-40B4-BE49-F238E27FC236}">
                <a16:creationId xmlns:a16="http://schemas.microsoft.com/office/drawing/2014/main" id="{CBA38C09-351A-495F-875B-57E592E0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7529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阶段2</a:t>
            </a:r>
          </a:p>
        </p:txBody>
      </p:sp>
      <p:sp>
        <p:nvSpPr>
          <p:cNvPr id="28" name="v2-diagram-79">
            <a:extLst xmlns:a="http://schemas.openxmlformats.org/drawingml/2006/main">
              <a:ext uri="{FF2B5EF4-FFF2-40B4-BE49-F238E27FC236}">
                <a16:creationId xmlns:a16="http://schemas.microsoft.com/office/drawing/2014/main" id="{6F93C028-7B9F-4794-A50E-67C7F90C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529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阶段3</a:t>
            </a:r>
          </a:p>
        </p:txBody>
      </p:sp>
      <p:sp>
        <p:nvSpPr>
          <p:cNvPr id="29" name="v2-diagram-80">
            <a:extLst xmlns:a="http://schemas.openxmlformats.org/drawingml/2006/main">
              <a:ext uri="{FF2B5EF4-FFF2-40B4-BE49-F238E27FC236}">
                <a16:creationId xmlns:a16="http://schemas.microsoft.com/office/drawing/2014/main" id="{3429F901-D653-44EA-9549-7B52BF73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752975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E"/>
          </a:solidFill>
          <a:ln xmlns:a="http://schemas.openxmlformats.org/drawingml/2006/main" w="12383">
            <a:solidFill>
              <a:srgbClr val="C9D6CC"/>
            </a:solidFill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阶段4</a:t>
            </a:r>
          </a:p>
        </p:txBody>
      </p:sp>
      <p:sp>
        <p:nvSpPr>
          <p:cNvPr id="30" name="v2-text-81">
            <a:extLst xmlns:a="http://schemas.openxmlformats.org/drawingml/2006/main">
              <a:ext uri="{FF2B5EF4-FFF2-40B4-BE49-F238E27FC236}">
                <a16:creationId xmlns:a16="http://schemas.microsoft.com/office/drawing/2014/main" id="{D3998602-FDBC-44F1-8776-FAEC3FC2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6029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[共同调查时间与可比条件]</a:t>
            </a:r>
          </a:p>
        </p:txBody>
      </p:sp>
      <p:sp>
        <p:nvSpPr>
          <p:cNvPr id="31" name="v2-text-82">
            <a:extLst xmlns:a="http://schemas.openxmlformats.org/drawingml/2006/main">
              <a:ext uri="{FF2B5EF4-FFF2-40B4-BE49-F238E27FC236}">
                <a16:creationId xmlns:a16="http://schemas.microsoft.com/office/drawing/2014/main" id="{670AB165-EE3C-420E-9D26-FD92D1E7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4102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[右图图例与分组说明]</a:t>
            </a:r>
          </a:p>
        </p:txBody>
      </p:sp>
      <p:sp>
        <p:nvSpPr>
          <p:cNvPr id="32" name="v2-text-83">
            <a:extLst xmlns:a="http://schemas.openxmlformats.org/drawingml/2006/main">
              <a:ext uri="{FF2B5EF4-FFF2-40B4-BE49-F238E27FC236}">
                <a16:creationId xmlns:a16="http://schemas.microsoft.com/office/drawing/2014/main" id="{1459C2B5-05AF-4D7F-BD52-961879B4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762625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[坐标名称与单位]</a:t>
            </a:r>
          </a:p>
        </p:txBody>
      </p:sp>
      <p:sp>
        <p:nvSpPr>
          <p:cNvPr id="33" name="v2-text-84">
            <a:extLst xmlns:a="http://schemas.openxmlformats.org/drawingml/2006/main">
              <a:ext uri="{FF2B5EF4-FFF2-40B4-BE49-F238E27FC236}">
                <a16:creationId xmlns:a16="http://schemas.microsoft.com/office/drawing/2014/main" id="{51925DB8-111A-4935-8B51-7D2B5619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81725"/>
            <a:ext cx="11020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设计含义：[分别能支持哪一种时间解释？]</a:t>
            </a:r>
          </a:p>
        </p:txBody>
      </p:sp>
      <p:sp>
        <p:nvSpPr>
          <p:cNvPr id="34" name="figure-placeholder-13-1">
            <a:extLst xmlns:a="http://schemas.openxmlformats.org/drawingml/2006/main">
              <a:ext uri="{FF2B5EF4-FFF2-40B4-BE49-F238E27FC236}">
                <a16:creationId xmlns:a16="http://schemas.microsoft.com/office/drawing/2014/main" id="{70A6766C-EE05-409B-B7F1-CE6A15C9E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95425"/>
            <a:ext cx="4095750" cy="378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9EB8AD"/>
            </a:solidFill>
            <a:prstDash val="solid"/>
          </a:ln>
        </p:spPr>
        <p:txBody>
          <a:bodyPr xmlns:a="http://schemas.openxmlformats.org/drawingml/2006/main" lIns="57150" tIns="57150" rIns="57150" bIns="57150" anchor="ctr"/>
          <a:lstStyle xmlns:a="http://schemas.openxmlformats.org/drawingml/2006/main">
            <a:def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[原始图表]</a:t>
            </a:r>
          </a:p>
          <a:p xmlns:a="http://schemas.openxmlformats.org/drawingml/2006/main">
            <a:pPr algn="ctr">
              <a:def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52685D"/>
                </a:solidFill>
                <a:latin typeface="Microsoft YaHei"/>
                <a:ea typeface="Microsoft YaHei"/>
                <a:cs typeface="Microsoft YaHei"/>
              </a:rPr>
              <a:t>保留坐标、图例与单位</a:t>
            </a:r>
          </a:p>
        </p:txBody>
      </p:sp>
    </p:spTree>
    <p:extLst>
      <p:ext uri="{BB962C8B-B14F-4D97-AF65-F5344CB8AC3E}">
        <p14:creationId xmlns:p14="http://schemas.microsoft.com/office/powerpoint/2010/main" val="14713332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E93613-962B-4146-8385-8B8C0B6B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对后续研究的启发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93A1D56-9D4C-4F71-A03A-38E5E37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汇报者提出：[与本研究相关的问题]</a:t>
            </a:r>
          </a:p>
        </p:txBody>
      </p:sp>
      <p:sp>
        <p:nvSpPr>
          <p:cNvPr id="3" name="source">
            <a:extLst xmlns:a="http://schemas.openxmlformats.org/drawingml/2006/main">
              <a:ext uri="{FF2B5EF4-FFF2-40B4-BE49-F238E27FC236}">
                <a16:creationId xmlns:a16="http://schemas.microsoft.com/office/drawing/2014/main" id="{FCCA72B7-6A92-48DA-8950-C0B50AB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668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启发与条件由汇报者提出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F7B4CE-62D6-4BC1-8D6D-1AA21BE7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BDDA4C7-998A-4CA8-8D7B-23F55300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F307747D-C991-44BC-89E0-99C1E23D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[状态]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22C3253-CB52-4526-87D1-5141DFDC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7240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38BE1B-578D-441E-8736-1F97BC47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[状态]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8ECFBC13-B31A-4496-BBCD-9E01B6DD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240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时点3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5D0840B-9FE9-4C96-9AF2-1F752C46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[状态]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46285A2-15F7-4001-955C-75B8794E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7240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时点4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603934-85ED-4478-8A99-11094C5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[状态]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AB1F697-69D8-4A94-8590-3106E653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17240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时点5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662405A0-72DE-4E7E-8C40-C3EBE74D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[状态]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638EF21B-897E-4AFA-BF24-027954D1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240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rPr>
              <a:t>时点6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E0B2BAB-5E63-4479-B5D5-16255CD7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rPr>
              <a:t>[状态]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F3D5700-1213-4B31-ADFE-17E31A9A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72402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时点7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DF43796-2FE3-4AE2-ACC0-B17E16051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2247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buNone/>
              <a:def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[状态]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B94830-1E30-4C50-9E96-A6B84AB482DF}"/>
              </a:ext>
            </a:extLst>
          </p:cNvPr>
          <p:cNvGraphicFramePr/>
          <p:nvPr/>
        </p:nvGraphicFramePr>
        <p:xfrm>
          <a:off xmlns:a="http://schemas.openxmlformats.org/drawingml/2006/main" x="590550" y="3000375"/>
          <a:ext xmlns:a="http://schemas.openxmlformats.org/drawingml/2006/main" cx="1101090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14875"/>
                <a:gridCol w="6296025"/>
              </a:tblGrid>
              <a:tr h="5953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已有或所需条件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T w="6668">
                      <a:solidFill>
                        <a:srgbClr val="D6DFD9"/>
                      </a:solidFill>
                      <a:prstDash val="solid"/>
                    </a:lnT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2038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能够探索的问题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T w="6668">
                      <a:solidFill>
                        <a:srgbClr val="D6DFD9"/>
                      </a:solidFill>
                      <a:prstDash val="solid"/>
                    </a:lnT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EDF2EE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[可比指标与测量方法]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[对应的问题一]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[合适的比较对象或参照]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[对应的问题二]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[样本身份或时间对应]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6DFD9"/>
                      </a:solidFill>
                      <a:prstDash val="solid"/>
                    </a:lnL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29342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[对应的问题三]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6DFD9"/>
                      </a:solidFill>
                      <a:prstDash val="solid"/>
                    </a:lnR>
                    <a:lnB w="6668">
                      <a:solidFill>
                        <a:srgbClr val="D6DF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11607CBF-B244-49B1-8C7E-F525EEB67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39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94512F"/>
                </a:solidFill>
                <a:latin typeface="Microsoft YaHei"/>
                <a:ea typeface="Microsoft YaHei"/>
                <a:cs typeface="Microsoft YaHei"/>
              </a:rPr>
              <a:t>研究条件：[按真实记录填写，不自动认定连续监测]</a:t>
            </a:r>
          </a:p>
        </p:txBody>
      </p:sp>
    </p:spTree>
    <p:extLst>
      <p:ext uri="{BB962C8B-B14F-4D97-AF65-F5344CB8AC3E}">
        <p14:creationId xmlns:p14="http://schemas.microsoft.com/office/powerpoint/2010/main" val="20101220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v2-text-85">
            <a:extLst xmlns:a="http://schemas.openxmlformats.org/drawingml/2006/main">
              <a:ext uri="{FF2B5EF4-FFF2-40B4-BE49-F238E27FC236}">
                <a16:creationId xmlns:a16="http://schemas.microsoft.com/office/drawing/2014/main" id="{4A8DA181-36DE-463B-B359-9C3979BA5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0382F"/>
                </a:solidFill>
                <a:latin typeface="Microsoft YaHei"/>
                <a:ea typeface="Microsoft YaHei"/>
                <a:cs typeface="Microsoft YaHei"/>
              </a:rPr>
              <a:t>总结与讨论</a:t>
            </a:r>
          </a:p>
        </p:txBody>
      </p:sp>
      <p:sp>
        <p:nvSpPr>
          <p:cNvPr id="2" name="v2-text-86">
            <a:extLst xmlns:a="http://schemas.openxmlformats.org/drawingml/2006/main">
              <a:ext uri="{FF2B5EF4-FFF2-40B4-BE49-F238E27FC236}">
                <a16:creationId xmlns:a16="http://schemas.microsoft.com/office/drawing/2014/main" id="{946FFDC7-0C40-41E6-9FD5-FEE9F8A0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三条核心认识</a:t>
            </a:r>
          </a:p>
        </p:txBody>
      </p:sp>
      <p:sp>
        <p:nvSpPr>
          <p:cNvPr id="3" name="v2-text-87">
            <a:extLst xmlns:a="http://schemas.openxmlformats.org/drawingml/2006/main">
              <a:ext uri="{FF2B5EF4-FFF2-40B4-BE49-F238E27FC236}">
                <a16:creationId xmlns:a16="http://schemas.microsoft.com/office/drawing/2014/main" id="{C3E3FFC9-5C97-4C4B-9DDC-BB5E9A1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v2-text-88">
            <a:extLst xmlns:a="http://schemas.openxmlformats.org/drawingml/2006/main">
              <a:ext uri="{FF2B5EF4-FFF2-40B4-BE49-F238E27FC236}">
                <a16:creationId xmlns:a16="http://schemas.microsoft.com/office/drawing/2014/main" id="{F2C96E37-4A7A-425E-8653-036C7AA2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4790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[一句话概括最重要的结果]</a:t>
            </a:r>
          </a:p>
        </p:txBody>
      </p:sp>
      <p:sp>
        <p:nvSpPr>
          <p:cNvPr id="5" name="v2-text-89">
            <a:extLst xmlns:a="http://schemas.openxmlformats.org/drawingml/2006/main">
              <a:ext uri="{FF2B5EF4-FFF2-40B4-BE49-F238E27FC236}">
                <a16:creationId xmlns:a16="http://schemas.microsoft.com/office/drawing/2014/main" id="{AA0D40E1-7621-43B4-90D7-CC205E07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v2-text-90">
            <a:extLst xmlns:a="http://schemas.openxmlformats.org/drawingml/2006/main">
              <a:ext uri="{FF2B5EF4-FFF2-40B4-BE49-F238E27FC236}">
                <a16:creationId xmlns:a16="http://schemas.microsoft.com/office/drawing/2014/main" id="{72004450-F749-4329-BED9-48093546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48615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[一句话概括新增证据及其价值]</a:t>
            </a:r>
          </a:p>
        </p:txBody>
      </p:sp>
      <p:sp>
        <p:nvSpPr>
          <p:cNvPr id="7" name="v2-text-91">
            <a:extLst xmlns:a="http://schemas.openxmlformats.org/drawingml/2006/main">
              <a:ext uri="{FF2B5EF4-FFF2-40B4-BE49-F238E27FC236}">
                <a16:creationId xmlns:a16="http://schemas.microsoft.com/office/drawing/2014/main" id="{91BF2F2E-92DC-4C9A-A03F-3C5EF877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v2-text-92">
            <a:extLst xmlns:a="http://schemas.openxmlformats.org/drawingml/2006/main">
              <a:ext uri="{FF2B5EF4-FFF2-40B4-BE49-F238E27FC236}">
                <a16:creationId xmlns:a16="http://schemas.microsoft.com/office/drawing/2014/main" id="{E5670AF0-CC1A-46E0-9A98-D2BFC5F1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72440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[一句话概括适用范围或研究启发]</a:t>
            </a:r>
          </a:p>
        </p:txBody>
      </p:sp>
      <p:sp>
        <p:nvSpPr>
          <p:cNvPr id="9" name="v2-text-93">
            <a:extLst xmlns:a="http://schemas.openxmlformats.org/drawingml/2006/main">
              <a:ext uri="{FF2B5EF4-FFF2-40B4-BE49-F238E27FC236}">
                <a16:creationId xmlns:a16="http://schemas.microsoft.com/office/drawing/2014/main" id="{39A2E68F-2A93-4B10-8980-A456352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144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4D"/>
                </a:solidFill>
                <a:latin typeface="Microsoft YaHei"/>
                <a:ea typeface="Microsoft YaHei"/>
                <a:cs typeface="Microsoft YaHei"/>
              </a:rPr>
              <a:t>两个讨论问题</a:t>
            </a:r>
          </a:p>
        </p:txBody>
      </p:sp>
      <p:sp>
        <p:nvSpPr>
          <p:cNvPr id="10" name="v2-text-94">
            <a:extLst xmlns:a="http://schemas.openxmlformats.org/drawingml/2006/main">
              <a:ext uri="{FF2B5EF4-FFF2-40B4-BE49-F238E27FC236}">
                <a16:creationId xmlns:a16="http://schemas.microsoft.com/office/drawing/2014/main" id="{92D8E3D6-F507-41F1-BF9A-724440CB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90775"/>
            <a:ext cx="410527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[围绕现有证据，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还有哪一点值得讨论？]</a:t>
            </a:r>
          </a:p>
        </p:txBody>
      </p:sp>
      <p:sp>
        <p:nvSpPr>
          <p:cNvPr id="11" name="v2-text-95">
            <a:extLst xmlns:a="http://schemas.openxmlformats.org/drawingml/2006/main">
              <a:ext uri="{FF2B5EF4-FFF2-40B4-BE49-F238E27FC236}">
                <a16:creationId xmlns:a16="http://schemas.microsoft.com/office/drawing/2014/main" id="{77441861-E451-4EE4-90E0-DA3C5DAD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124325"/>
            <a:ext cx="4105275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[下一步需要什么证据，</a:t>
            </a:r>
          </a:p>
          <a:p xmlns:a="http://schemas.openxmlformats.org/drawingml/2006/main">
            <a:pPr algn="l">
              <a:buNone/>
              <a:def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9342F"/>
                </a:solidFill>
                <a:latin typeface="Microsoft YaHei"/>
                <a:ea typeface="Microsoft YaHei"/>
                <a:cs typeface="Microsoft YaHei"/>
              </a:rPr>
              <a:t>才能回答更深入的问题？]</a:t>
            </a:r>
          </a:p>
        </p:txBody>
      </p:sp>
      <p:sp>
        <p:nvSpPr>
          <p:cNvPr id="12" name="v2-text-96">
            <a:extLst xmlns:a="http://schemas.openxmlformats.org/drawingml/2006/main">
              <a:ext uri="{FF2B5EF4-FFF2-40B4-BE49-F238E27FC236}">
                <a16:creationId xmlns:a16="http://schemas.microsoft.com/office/drawing/2014/main" id="{6EECD39A-8D70-427A-A043-F265D998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buNone/>
              <a:def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据所引论文归纳；讨论问题由汇报者提出</a:t>
            </a:r>
          </a:p>
        </p:txBody>
      </p:sp>
      <p:sp>
        <p:nvSpPr>
          <p:cNvPr id="13" name="v2-text-97">
            <a:extLst xmlns:a="http://schemas.openxmlformats.org/drawingml/2006/main">
              <a:ext uri="{FF2B5EF4-FFF2-40B4-BE49-F238E27FC236}">
                <a16:creationId xmlns:a16="http://schemas.microsoft.com/office/drawing/2014/main" id="{775D9C3F-909C-4065-BDDB-9242EAC9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34150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8635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750784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2026-10-23T10:44:26.4260000Z</dcterms:created>
  <dcterms:modified xsi:type="dcterms:W3CDTF">2026-10-23T10:44:26.4260000Z</dcterms:modified>
</coreProperties>
</file>